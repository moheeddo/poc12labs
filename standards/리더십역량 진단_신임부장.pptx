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9" r:id="rId2"/>
  </p:sldMasterIdLst>
  <p:notesMasterIdLst>
    <p:notesMasterId r:id="rId19"/>
  </p:notesMasterIdLst>
  <p:sldIdLst>
    <p:sldId id="1470" r:id="rId3"/>
    <p:sldId id="2147473749" r:id="rId4"/>
    <p:sldId id="2147473832" r:id="rId5"/>
    <p:sldId id="1473" r:id="rId6"/>
    <p:sldId id="2147473782" r:id="rId7"/>
    <p:sldId id="2147473818" r:id="rId8"/>
    <p:sldId id="2147473750" r:id="rId9"/>
    <p:sldId id="2147473783" r:id="rId10"/>
    <p:sldId id="2147473819" r:id="rId11"/>
    <p:sldId id="2147473751" r:id="rId12"/>
    <p:sldId id="2147473784" r:id="rId13"/>
    <p:sldId id="2147473820" r:id="rId14"/>
    <p:sldId id="2147473752" r:id="rId15"/>
    <p:sldId id="2147473785" r:id="rId16"/>
    <p:sldId id="2147473821" r:id="rId17"/>
    <p:sldId id="2147473541" r:id="rId18"/>
  </p:sldIdLst>
  <p:sldSz cx="9906000" cy="6858000" type="A4"/>
  <p:notesSz cx="6799263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7FA5481D-589B-4C45-B259-8F41A070F2A3}">
          <p14:sldIdLst>
            <p14:sldId id="1470"/>
          </p14:sldIdLst>
        </p14:section>
        <p14:section name="2직급" id="{73AB259A-74D5-4B72-BB7D-1DB5DFDB89A8}">
          <p14:sldIdLst>
            <p14:sldId id="2147473749"/>
            <p14:sldId id="2147473832"/>
            <p14:sldId id="1473"/>
            <p14:sldId id="2147473782"/>
            <p14:sldId id="2147473818"/>
            <p14:sldId id="2147473750"/>
            <p14:sldId id="2147473783"/>
            <p14:sldId id="2147473819"/>
            <p14:sldId id="2147473751"/>
            <p14:sldId id="2147473784"/>
            <p14:sldId id="2147473820"/>
            <p14:sldId id="2147473752"/>
            <p14:sldId id="2147473785"/>
            <p14:sldId id="2147473821"/>
            <p14:sldId id="21474735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27" userDrawn="1">
          <p15:clr>
            <a:srgbClr val="A4A3A4"/>
          </p15:clr>
        </p15:guide>
        <p15:guide id="2" orient="horz" pos="3997" userDrawn="1">
          <p15:clr>
            <a:srgbClr val="A4A3A4"/>
          </p15:clr>
        </p15:guide>
        <p15:guide id="3" pos="172" userDrawn="1">
          <p15:clr>
            <a:srgbClr val="A4A3A4"/>
          </p15:clr>
        </p15:guide>
        <p15:guide id="4" pos="5343" userDrawn="1">
          <p15:clr>
            <a:srgbClr val="A4A3A4"/>
          </p15:clr>
        </p15:guide>
        <p15:guide id="5" pos="6091" userDrawn="1">
          <p15:clr>
            <a:srgbClr val="A4A3A4"/>
          </p15:clr>
        </p15:guide>
        <p15:guide id="6" orient="horz" pos="4065" userDrawn="1">
          <p15:clr>
            <a:srgbClr val="A4A3A4"/>
          </p15:clr>
        </p15:guide>
        <p15:guide id="7" orient="horz" pos="9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98"/>
    <a:srgbClr val="28437E"/>
    <a:srgbClr val="0D4382"/>
    <a:srgbClr val="DEEBF7"/>
    <a:srgbClr val="D3DDF1"/>
    <a:srgbClr val="CCECFF"/>
    <a:srgbClr val="376092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13" autoAdjust="0"/>
    <p:restoredTop sz="96649" autoAdjust="0"/>
  </p:normalViewPr>
  <p:slideViewPr>
    <p:cSldViewPr snapToGrid="0">
      <p:cViewPr varScale="1">
        <p:scale>
          <a:sx n="101" d="100"/>
          <a:sy n="101" d="100"/>
        </p:scale>
        <p:origin x="883" y="67"/>
      </p:cViewPr>
      <p:guideLst>
        <p:guide orient="horz" pos="527"/>
        <p:guide orient="horz" pos="3997"/>
        <p:guide pos="172"/>
        <p:guide pos="5343"/>
        <p:guide pos="6091"/>
        <p:guide orient="horz" pos="4065"/>
        <p:guide orient="horz" pos="95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2582"/>
    </p:cViewPr>
  </p:sorterViewPr>
  <p:notesViewPr>
    <p:cSldViewPr snapToGrid="0">
      <p:cViewPr varScale="1">
        <p:scale>
          <a:sx n="83" d="100"/>
          <a:sy n="83" d="100"/>
        </p:scale>
        <p:origin x="4253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남경모" userId="2902a6d4-e64d-4394-83d2-f34cc74f160c" providerId="ADAL" clId="{27BC95F3-5B00-414F-A31C-96B56A7B87B1}"/>
    <pc:docChg chg="undo custSel modSld">
      <pc:chgData name="남경모" userId="2902a6d4-e64d-4394-83d2-f34cc74f160c" providerId="ADAL" clId="{27BC95F3-5B00-414F-A31C-96B56A7B87B1}" dt="2026-03-17T23:46:45.892" v="4" actId="2165"/>
      <pc:docMkLst>
        <pc:docMk/>
      </pc:docMkLst>
      <pc:sldChg chg="modSp mod">
        <pc:chgData name="남경모" userId="2902a6d4-e64d-4394-83d2-f34cc74f160c" providerId="ADAL" clId="{27BC95F3-5B00-414F-A31C-96B56A7B87B1}" dt="2026-03-17T23:46:45.892" v="4" actId="2165"/>
        <pc:sldMkLst>
          <pc:docMk/>
          <pc:sldMk cId="1372470975" sldId="2147473782"/>
        </pc:sldMkLst>
        <pc:graphicFrameChg chg="modGraphic">
          <ac:chgData name="남경모" userId="2902a6d4-e64d-4394-83d2-f34cc74f160c" providerId="ADAL" clId="{27BC95F3-5B00-414F-A31C-96B56A7B87B1}" dt="2026-03-17T23:46:45.892" v="4" actId="2165"/>
          <ac:graphicFrameMkLst>
            <pc:docMk/>
            <pc:sldMk cId="1372470975" sldId="2147473782"/>
            <ac:graphicFrameMk id="11" creationId="{EE669ADC-77A2-176F-DD49-F071B785C69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348" cy="498215"/>
          </a:xfrm>
          <a:prstGeom prst="rect">
            <a:avLst/>
          </a:prstGeom>
        </p:spPr>
        <p:txBody>
          <a:bodyPr vert="horz" lIns="91329" tIns="45665" rIns="91329" bIns="45665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1343" y="2"/>
            <a:ext cx="2946348" cy="498215"/>
          </a:xfrm>
          <a:prstGeom prst="rect">
            <a:avLst/>
          </a:prstGeom>
        </p:spPr>
        <p:txBody>
          <a:bodyPr vert="horz" lIns="91329" tIns="45665" rIns="91329" bIns="45665" rtlCol="0"/>
          <a:lstStyle>
            <a:lvl1pPr algn="r">
              <a:defRPr sz="1300"/>
            </a:lvl1pPr>
          </a:lstStyle>
          <a:p>
            <a:fld id="{41700EE8-DC76-43E6-9216-C0973E710945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40287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9" tIns="45665" rIns="91329" bIns="4566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927" y="4778723"/>
            <a:ext cx="5439410" cy="3909863"/>
          </a:xfrm>
          <a:prstGeom prst="rect">
            <a:avLst/>
          </a:prstGeom>
        </p:spPr>
        <p:txBody>
          <a:bodyPr vert="horz" lIns="91329" tIns="45665" rIns="91329" bIns="45665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8" cy="498214"/>
          </a:xfrm>
          <a:prstGeom prst="rect">
            <a:avLst/>
          </a:prstGeom>
        </p:spPr>
        <p:txBody>
          <a:bodyPr vert="horz" lIns="91329" tIns="45665" rIns="91329" bIns="45665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1343" y="9431600"/>
            <a:ext cx="2946348" cy="498214"/>
          </a:xfrm>
          <a:prstGeom prst="rect">
            <a:avLst/>
          </a:prstGeom>
        </p:spPr>
        <p:txBody>
          <a:bodyPr vert="horz" lIns="91329" tIns="45665" rIns="91329" bIns="45665" rtlCol="0" anchor="b"/>
          <a:lstStyle>
            <a:lvl1pPr algn="r">
              <a:defRPr sz="1300"/>
            </a:lvl1pPr>
          </a:lstStyle>
          <a:p>
            <a:fld id="{0EEFE612-AEAF-42BC-8118-8DB9890577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562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FE612-AEAF-42BC-8118-8DB98905776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791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0131-99B0-3F85-BB10-46347CC01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18A6F5-8049-E41F-125C-24C540C57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1101725"/>
            <a:ext cx="4287837" cy="297021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FA5113-D608-E991-3171-DAF3859EA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481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1503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C5FBB-6839-352C-553F-29DCCE24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A101C0-975C-E4EB-AABA-B00CF6FA0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1117600"/>
            <a:ext cx="4360863" cy="30194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0DB575-7569-11FE-3D7D-284D9C151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91136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EB376-0EE7-E11E-3978-587131DBB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45568">
              <a:defRPr/>
            </a:pPr>
            <a:fld id="{185C6366-05DD-470F-BE2F-9B772257F421}" type="slidenum">
              <a:rPr lang="ko-KR" altLang="en-US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445568">
                <a:defRPr/>
              </a:pPr>
              <a:t>3</a:t>
            </a:fld>
            <a:endParaRPr lang="ko-KR" altLang="en-US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6692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E644C-3CA9-5954-9DB3-448097AF6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09C921-324C-E18C-0297-D77093DE8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62050" y="1125538"/>
            <a:ext cx="4387850" cy="30384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BC642D-B527-371B-D8DD-A2634221E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97877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F1A6D-D326-3A03-3AF5-61BB88219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48938">
              <a:defRPr/>
            </a:pPr>
            <a:fld id="{185C6366-05DD-470F-BE2F-9B772257F421}" type="slidenum">
              <a:rPr lang="ko-KR" altLang="en-US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448938">
                <a:defRPr/>
              </a:pPr>
              <a:t>4</a:t>
            </a:fld>
            <a:endParaRPr lang="ko-KR" altLang="en-US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3183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80029-E169-6587-C0B7-2A72F59E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2AF45F-CB69-C444-2AC6-3F206A4A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1101725"/>
            <a:ext cx="4287837" cy="297021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996732-C6CD-70FE-5879-32606516D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481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2393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A4B3-4B42-6C2E-D6A6-2BBDB8DA4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9871DE-565A-27B9-3D18-5DA6B167E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1101725"/>
            <a:ext cx="4287837" cy="297021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0E891F-A0A8-0079-8071-884BE2E22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481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3924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CE793-2BC2-0F0D-E356-FB756C83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E33064-4259-7953-FE9E-5092EF88B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1101725"/>
            <a:ext cx="4287837" cy="297021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EA97BE-B5CC-4A5A-5EEF-4DDA9D023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481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6595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80029-E169-6587-C0B7-2A72F59E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2AF45F-CB69-C444-2AC6-3F206A4A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1101725"/>
            <a:ext cx="4287837" cy="297021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996732-C6CD-70FE-5879-32606516D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823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3A363-5CA4-2E89-2212-25C3A4541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FE9FC2-3C7A-3F5D-9BB3-BDB272223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1101725"/>
            <a:ext cx="4287837" cy="297021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9E1AD7-A964-EE0A-C95D-93E211C3A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481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0520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C169-64EE-DE24-E5FE-3677FBB8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0B80F9-F855-8952-ED5B-4CF8B4DB5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1101725"/>
            <a:ext cx="4287837" cy="297021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6B15CC-DE6B-CE18-9C45-F813F004B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481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23113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80029-E169-6587-C0B7-2A72F59E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2AF45F-CB69-C444-2AC6-3F206A4A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1101725"/>
            <a:ext cx="4287837" cy="297021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996732-C6CD-70FE-5879-32606516D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481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85773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02752-B0A9-2BE2-1F74-F15C9284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0293F1-D8C9-7FEB-404C-D734FF5EC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1101725"/>
            <a:ext cx="4287837" cy="297021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3DB16F-9406-89CA-B1E8-59603768C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481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85320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E6A3-3F88-7919-1827-F93679C7A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36BE0E-EF13-8094-BB27-65D260352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1101725"/>
            <a:ext cx="4287837" cy="297021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9322E-5553-35C4-B8E0-1BE571B16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481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02558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80029-E169-6587-C0B7-2A72F59E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2AF45F-CB69-C444-2AC6-3F206A4A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1101725"/>
            <a:ext cx="4287837" cy="297021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996732-C6CD-70FE-5879-32606516D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481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97666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0069-9C4E-02E1-4028-0DDADF494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661A39-86DA-621A-1F55-B7CD21E0C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06488" y="1101725"/>
            <a:ext cx="4287837" cy="2970213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50ADBA-8684-6048-4912-CB943FEB5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481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9343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EE306-0F35-46BC-A82F-AECD17F9D2E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591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BDC76-2B81-4710-AC94-8D4CBED52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03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172">
          <p15:clr>
            <a:srgbClr val="FBAE40"/>
          </p15:clr>
        </p15:guide>
        <p15:guide id="4" orient="horz" pos="187">
          <p15:clr>
            <a:srgbClr val="FBAE40"/>
          </p15:clr>
        </p15:guide>
        <p15:guide id="5" pos="6068">
          <p15:clr>
            <a:srgbClr val="FBAE40"/>
          </p15:clr>
        </p15:guide>
        <p15:guide id="6" orient="horz" pos="413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 flipV="1">
            <a:off x="0" y="-1"/>
            <a:ext cx="2177592" cy="6858000"/>
          </a:xfrm>
          <a:prstGeom prst="rect">
            <a:avLst/>
          </a:prstGeom>
          <a:solidFill>
            <a:schemeClr val="bg1">
              <a:lumMod val="85000"/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490201-9161-44AA-8800-A7E976DC66D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자유형 7"/>
          <p:cNvSpPr/>
          <p:nvPr userDrawn="1"/>
        </p:nvSpPr>
        <p:spPr>
          <a:xfrm rot="10800000" flipH="1">
            <a:off x="0" y="-35853"/>
            <a:ext cx="443062" cy="2729009"/>
          </a:xfrm>
          <a:custGeom>
            <a:avLst/>
            <a:gdLst>
              <a:gd name="connsiteX0" fmla="*/ 181797 w 443062"/>
              <a:gd name="connsiteY0" fmla="*/ 2697922 h 2697922"/>
              <a:gd name="connsiteX1" fmla="*/ 261265 w 443062"/>
              <a:gd name="connsiteY1" fmla="*/ 2697922 h 2697922"/>
              <a:gd name="connsiteX2" fmla="*/ 443062 w 443062"/>
              <a:gd name="connsiteY2" fmla="*/ 2516125 h 2697922"/>
              <a:gd name="connsiteX3" fmla="*/ 443062 w 443062"/>
              <a:gd name="connsiteY3" fmla="*/ 657219 h 2697922"/>
              <a:gd name="connsiteX4" fmla="*/ 389815 w 443062"/>
              <a:gd name="connsiteY4" fmla="*/ 528669 h 2697922"/>
              <a:gd name="connsiteX5" fmla="*/ 364333 w 443062"/>
              <a:gd name="connsiteY5" fmla="*/ 511489 h 2697922"/>
              <a:gd name="connsiteX6" fmla="*/ 6121 w 443062"/>
              <a:gd name="connsiteY6" fmla="*/ 0 h 2697922"/>
              <a:gd name="connsiteX7" fmla="*/ 752 w 443062"/>
              <a:gd name="connsiteY7" fmla="*/ 526220 h 2697922"/>
              <a:gd name="connsiteX8" fmla="*/ 56879 w 443062"/>
              <a:gd name="connsiteY8" fmla="*/ 526220 h 2697922"/>
              <a:gd name="connsiteX9" fmla="*/ 53247 w 443062"/>
              <a:gd name="connsiteY9" fmla="*/ 528669 h 2697922"/>
              <a:gd name="connsiteX10" fmla="*/ 0 w 443062"/>
              <a:gd name="connsiteY10" fmla="*/ 657219 h 2697922"/>
              <a:gd name="connsiteX11" fmla="*/ 0 w 443062"/>
              <a:gd name="connsiteY11" fmla="*/ 2516125 h 2697922"/>
              <a:gd name="connsiteX12" fmla="*/ 181797 w 443062"/>
              <a:gd name="connsiteY12" fmla="*/ 2697922 h 2697922"/>
              <a:gd name="connsiteX0" fmla="*/ 181797 w 443062"/>
              <a:gd name="connsiteY0" fmla="*/ 2697922 h 2697922"/>
              <a:gd name="connsiteX1" fmla="*/ 261265 w 443062"/>
              <a:gd name="connsiteY1" fmla="*/ 2697922 h 2697922"/>
              <a:gd name="connsiteX2" fmla="*/ 443062 w 443062"/>
              <a:gd name="connsiteY2" fmla="*/ 2516125 h 2697922"/>
              <a:gd name="connsiteX3" fmla="*/ 443062 w 443062"/>
              <a:gd name="connsiteY3" fmla="*/ 657219 h 2697922"/>
              <a:gd name="connsiteX4" fmla="*/ 389815 w 443062"/>
              <a:gd name="connsiteY4" fmla="*/ 528669 h 2697922"/>
              <a:gd name="connsiteX5" fmla="*/ 364333 w 443062"/>
              <a:gd name="connsiteY5" fmla="*/ 511489 h 2697922"/>
              <a:gd name="connsiteX6" fmla="*/ 6121 w 443062"/>
              <a:gd name="connsiteY6" fmla="*/ 0 h 2697922"/>
              <a:gd name="connsiteX7" fmla="*/ 752 w 443062"/>
              <a:gd name="connsiteY7" fmla="*/ 526220 h 2697922"/>
              <a:gd name="connsiteX8" fmla="*/ 56879 w 443062"/>
              <a:gd name="connsiteY8" fmla="*/ 526220 h 2697922"/>
              <a:gd name="connsiteX9" fmla="*/ 0 w 443062"/>
              <a:gd name="connsiteY9" fmla="*/ 657219 h 2697922"/>
              <a:gd name="connsiteX10" fmla="*/ 0 w 443062"/>
              <a:gd name="connsiteY10" fmla="*/ 2516125 h 2697922"/>
              <a:gd name="connsiteX11" fmla="*/ 181797 w 443062"/>
              <a:gd name="connsiteY11" fmla="*/ 2697922 h 2697922"/>
              <a:gd name="connsiteX0" fmla="*/ 181797 w 443062"/>
              <a:gd name="connsiteY0" fmla="*/ 2697922 h 2697922"/>
              <a:gd name="connsiteX1" fmla="*/ 261265 w 443062"/>
              <a:gd name="connsiteY1" fmla="*/ 2697922 h 2697922"/>
              <a:gd name="connsiteX2" fmla="*/ 443062 w 443062"/>
              <a:gd name="connsiteY2" fmla="*/ 2516125 h 2697922"/>
              <a:gd name="connsiteX3" fmla="*/ 443062 w 443062"/>
              <a:gd name="connsiteY3" fmla="*/ 657219 h 2697922"/>
              <a:gd name="connsiteX4" fmla="*/ 389815 w 443062"/>
              <a:gd name="connsiteY4" fmla="*/ 528669 h 2697922"/>
              <a:gd name="connsiteX5" fmla="*/ 364333 w 443062"/>
              <a:gd name="connsiteY5" fmla="*/ 511489 h 2697922"/>
              <a:gd name="connsiteX6" fmla="*/ 6121 w 443062"/>
              <a:gd name="connsiteY6" fmla="*/ 0 h 2697922"/>
              <a:gd name="connsiteX7" fmla="*/ 752 w 443062"/>
              <a:gd name="connsiteY7" fmla="*/ 526220 h 2697922"/>
              <a:gd name="connsiteX8" fmla="*/ 0 w 443062"/>
              <a:gd name="connsiteY8" fmla="*/ 657219 h 2697922"/>
              <a:gd name="connsiteX9" fmla="*/ 0 w 443062"/>
              <a:gd name="connsiteY9" fmla="*/ 2516125 h 2697922"/>
              <a:gd name="connsiteX10" fmla="*/ 181797 w 443062"/>
              <a:gd name="connsiteY10" fmla="*/ 2697922 h 2697922"/>
              <a:gd name="connsiteX0" fmla="*/ 0 w 443062"/>
              <a:gd name="connsiteY0" fmla="*/ 2516125 h 2734722"/>
              <a:gd name="connsiteX1" fmla="*/ 261265 w 443062"/>
              <a:gd name="connsiteY1" fmla="*/ 2697922 h 2734722"/>
              <a:gd name="connsiteX2" fmla="*/ 443062 w 443062"/>
              <a:gd name="connsiteY2" fmla="*/ 2516125 h 2734722"/>
              <a:gd name="connsiteX3" fmla="*/ 443062 w 443062"/>
              <a:gd name="connsiteY3" fmla="*/ 657219 h 2734722"/>
              <a:gd name="connsiteX4" fmla="*/ 389815 w 443062"/>
              <a:gd name="connsiteY4" fmla="*/ 528669 h 2734722"/>
              <a:gd name="connsiteX5" fmla="*/ 364333 w 443062"/>
              <a:gd name="connsiteY5" fmla="*/ 511489 h 2734722"/>
              <a:gd name="connsiteX6" fmla="*/ 6121 w 443062"/>
              <a:gd name="connsiteY6" fmla="*/ 0 h 2734722"/>
              <a:gd name="connsiteX7" fmla="*/ 752 w 443062"/>
              <a:gd name="connsiteY7" fmla="*/ 526220 h 2734722"/>
              <a:gd name="connsiteX8" fmla="*/ 0 w 443062"/>
              <a:gd name="connsiteY8" fmla="*/ 657219 h 2734722"/>
              <a:gd name="connsiteX9" fmla="*/ 0 w 443062"/>
              <a:gd name="connsiteY9" fmla="*/ 2516125 h 2734722"/>
              <a:gd name="connsiteX0" fmla="*/ 0 w 443062"/>
              <a:gd name="connsiteY0" fmla="*/ 2516125 h 2748487"/>
              <a:gd name="connsiteX1" fmla="*/ 443062 w 443062"/>
              <a:gd name="connsiteY1" fmla="*/ 2516125 h 2748487"/>
              <a:gd name="connsiteX2" fmla="*/ 443062 w 443062"/>
              <a:gd name="connsiteY2" fmla="*/ 657219 h 2748487"/>
              <a:gd name="connsiteX3" fmla="*/ 389815 w 443062"/>
              <a:gd name="connsiteY3" fmla="*/ 528669 h 2748487"/>
              <a:gd name="connsiteX4" fmla="*/ 364333 w 443062"/>
              <a:gd name="connsiteY4" fmla="*/ 511489 h 2748487"/>
              <a:gd name="connsiteX5" fmla="*/ 6121 w 443062"/>
              <a:gd name="connsiteY5" fmla="*/ 0 h 2748487"/>
              <a:gd name="connsiteX6" fmla="*/ 752 w 443062"/>
              <a:gd name="connsiteY6" fmla="*/ 526220 h 2748487"/>
              <a:gd name="connsiteX7" fmla="*/ 0 w 443062"/>
              <a:gd name="connsiteY7" fmla="*/ 657219 h 2748487"/>
              <a:gd name="connsiteX8" fmla="*/ 0 w 443062"/>
              <a:gd name="connsiteY8" fmla="*/ 2516125 h 2748487"/>
              <a:gd name="connsiteX0" fmla="*/ 0 w 443062"/>
              <a:gd name="connsiteY0" fmla="*/ 2516125 h 2748487"/>
              <a:gd name="connsiteX1" fmla="*/ 443062 w 443062"/>
              <a:gd name="connsiteY1" fmla="*/ 2516125 h 2748487"/>
              <a:gd name="connsiteX2" fmla="*/ 443062 w 443062"/>
              <a:gd name="connsiteY2" fmla="*/ 657219 h 2748487"/>
              <a:gd name="connsiteX3" fmla="*/ 389815 w 443062"/>
              <a:gd name="connsiteY3" fmla="*/ 528669 h 2748487"/>
              <a:gd name="connsiteX4" fmla="*/ 6121 w 443062"/>
              <a:gd name="connsiteY4" fmla="*/ 0 h 2748487"/>
              <a:gd name="connsiteX5" fmla="*/ 752 w 443062"/>
              <a:gd name="connsiteY5" fmla="*/ 526220 h 2748487"/>
              <a:gd name="connsiteX6" fmla="*/ 0 w 443062"/>
              <a:gd name="connsiteY6" fmla="*/ 657219 h 2748487"/>
              <a:gd name="connsiteX7" fmla="*/ 0 w 443062"/>
              <a:gd name="connsiteY7" fmla="*/ 2516125 h 2748487"/>
              <a:gd name="connsiteX0" fmla="*/ 0 w 443062"/>
              <a:gd name="connsiteY0" fmla="*/ 2516125 h 2748487"/>
              <a:gd name="connsiteX1" fmla="*/ 443062 w 443062"/>
              <a:gd name="connsiteY1" fmla="*/ 2516125 h 2748487"/>
              <a:gd name="connsiteX2" fmla="*/ 443062 w 443062"/>
              <a:gd name="connsiteY2" fmla="*/ 657219 h 2748487"/>
              <a:gd name="connsiteX3" fmla="*/ 389815 w 443062"/>
              <a:gd name="connsiteY3" fmla="*/ 528669 h 2748487"/>
              <a:gd name="connsiteX4" fmla="*/ 6121 w 443062"/>
              <a:gd name="connsiteY4" fmla="*/ 0 h 2748487"/>
              <a:gd name="connsiteX5" fmla="*/ 752 w 443062"/>
              <a:gd name="connsiteY5" fmla="*/ 526220 h 2748487"/>
              <a:gd name="connsiteX6" fmla="*/ 0 w 443062"/>
              <a:gd name="connsiteY6" fmla="*/ 657219 h 2748487"/>
              <a:gd name="connsiteX7" fmla="*/ 0 w 443062"/>
              <a:gd name="connsiteY7" fmla="*/ 2516125 h 2748487"/>
              <a:gd name="connsiteX0" fmla="*/ 0 w 443062"/>
              <a:gd name="connsiteY0" fmla="*/ 2516125 h 2748487"/>
              <a:gd name="connsiteX1" fmla="*/ 443062 w 443062"/>
              <a:gd name="connsiteY1" fmla="*/ 2516125 h 2748487"/>
              <a:gd name="connsiteX2" fmla="*/ 443062 w 443062"/>
              <a:gd name="connsiteY2" fmla="*/ 657219 h 2748487"/>
              <a:gd name="connsiteX3" fmla="*/ 358859 w 443062"/>
              <a:gd name="connsiteY3" fmla="*/ 466756 h 2748487"/>
              <a:gd name="connsiteX4" fmla="*/ 6121 w 443062"/>
              <a:gd name="connsiteY4" fmla="*/ 0 h 2748487"/>
              <a:gd name="connsiteX5" fmla="*/ 752 w 443062"/>
              <a:gd name="connsiteY5" fmla="*/ 526220 h 2748487"/>
              <a:gd name="connsiteX6" fmla="*/ 0 w 443062"/>
              <a:gd name="connsiteY6" fmla="*/ 657219 h 2748487"/>
              <a:gd name="connsiteX7" fmla="*/ 0 w 443062"/>
              <a:gd name="connsiteY7" fmla="*/ 2516125 h 2748487"/>
              <a:gd name="connsiteX0" fmla="*/ 0 w 443062"/>
              <a:gd name="connsiteY0" fmla="*/ 2516125 h 2748487"/>
              <a:gd name="connsiteX1" fmla="*/ 443062 w 443062"/>
              <a:gd name="connsiteY1" fmla="*/ 2516125 h 2748487"/>
              <a:gd name="connsiteX2" fmla="*/ 443062 w 443062"/>
              <a:gd name="connsiteY2" fmla="*/ 657219 h 2748487"/>
              <a:gd name="connsiteX3" fmla="*/ 358859 w 443062"/>
              <a:gd name="connsiteY3" fmla="*/ 466756 h 2748487"/>
              <a:gd name="connsiteX4" fmla="*/ 6121 w 443062"/>
              <a:gd name="connsiteY4" fmla="*/ 0 h 2748487"/>
              <a:gd name="connsiteX5" fmla="*/ 752 w 443062"/>
              <a:gd name="connsiteY5" fmla="*/ 526220 h 2748487"/>
              <a:gd name="connsiteX6" fmla="*/ 0 w 443062"/>
              <a:gd name="connsiteY6" fmla="*/ 657219 h 2748487"/>
              <a:gd name="connsiteX7" fmla="*/ 0 w 443062"/>
              <a:gd name="connsiteY7" fmla="*/ 2516125 h 2748487"/>
              <a:gd name="connsiteX0" fmla="*/ 0 w 443062"/>
              <a:gd name="connsiteY0" fmla="*/ 2516125 h 2748487"/>
              <a:gd name="connsiteX1" fmla="*/ 443062 w 443062"/>
              <a:gd name="connsiteY1" fmla="*/ 2516125 h 2748487"/>
              <a:gd name="connsiteX2" fmla="*/ 443062 w 443062"/>
              <a:gd name="connsiteY2" fmla="*/ 657219 h 2748487"/>
              <a:gd name="connsiteX3" fmla="*/ 358859 w 443062"/>
              <a:gd name="connsiteY3" fmla="*/ 466756 h 2748487"/>
              <a:gd name="connsiteX4" fmla="*/ 1358 w 443062"/>
              <a:gd name="connsiteY4" fmla="*/ 0 h 2748487"/>
              <a:gd name="connsiteX5" fmla="*/ 752 w 443062"/>
              <a:gd name="connsiteY5" fmla="*/ 526220 h 2748487"/>
              <a:gd name="connsiteX6" fmla="*/ 0 w 443062"/>
              <a:gd name="connsiteY6" fmla="*/ 657219 h 2748487"/>
              <a:gd name="connsiteX7" fmla="*/ 0 w 443062"/>
              <a:gd name="connsiteY7" fmla="*/ 2516125 h 2748487"/>
              <a:gd name="connsiteX0" fmla="*/ 443062 w 443062"/>
              <a:gd name="connsiteY0" fmla="*/ 2516125 h 2607565"/>
              <a:gd name="connsiteX1" fmla="*/ 443062 w 443062"/>
              <a:gd name="connsiteY1" fmla="*/ 657219 h 2607565"/>
              <a:gd name="connsiteX2" fmla="*/ 358859 w 443062"/>
              <a:gd name="connsiteY2" fmla="*/ 466756 h 2607565"/>
              <a:gd name="connsiteX3" fmla="*/ 1358 w 443062"/>
              <a:gd name="connsiteY3" fmla="*/ 0 h 2607565"/>
              <a:gd name="connsiteX4" fmla="*/ 752 w 443062"/>
              <a:gd name="connsiteY4" fmla="*/ 526220 h 2607565"/>
              <a:gd name="connsiteX5" fmla="*/ 0 w 443062"/>
              <a:gd name="connsiteY5" fmla="*/ 657219 h 2607565"/>
              <a:gd name="connsiteX6" fmla="*/ 91440 w 443062"/>
              <a:gd name="connsiteY6" fmla="*/ 2607565 h 2607565"/>
              <a:gd name="connsiteX0" fmla="*/ 443062 w 443062"/>
              <a:gd name="connsiteY0" fmla="*/ 2516125 h 2729009"/>
              <a:gd name="connsiteX1" fmla="*/ 443062 w 443062"/>
              <a:gd name="connsiteY1" fmla="*/ 657219 h 2729009"/>
              <a:gd name="connsiteX2" fmla="*/ 358859 w 443062"/>
              <a:gd name="connsiteY2" fmla="*/ 466756 h 2729009"/>
              <a:gd name="connsiteX3" fmla="*/ 1358 w 443062"/>
              <a:gd name="connsiteY3" fmla="*/ 0 h 2729009"/>
              <a:gd name="connsiteX4" fmla="*/ 752 w 443062"/>
              <a:gd name="connsiteY4" fmla="*/ 526220 h 2729009"/>
              <a:gd name="connsiteX5" fmla="*/ 0 w 443062"/>
              <a:gd name="connsiteY5" fmla="*/ 657219 h 2729009"/>
              <a:gd name="connsiteX6" fmla="*/ 952 w 443062"/>
              <a:gd name="connsiteY6" fmla="*/ 2729009 h 2729009"/>
              <a:gd name="connsiteX0" fmla="*/ 443062 w 443062"/>
              <a:gd name="connsiteY0" fmla="*/ 2713769 h 2729009"/>
              <a:gd name="connsiteX1" fmla="*/ 443062 w 443062"/>
              <a:gd name="connsiteY1" fmla="*/ 657219 h 2729009"/>
              <a:gd name="connsiteX2" fmla="*/ 358859 w 443062"/>
              <a:gd name="connsiteY2" fmla="*/ 466756 h 2729009"/>
              <a:gd name="connsiteX3" fmla="*/ 1358 w 443062"/>
              <a:gd name="connsiteY3" fmla="*/ 0 h 2729009"/>
              <a:gd name="connsiteX4" fmla="*/ 752 w 443062"/>
              <a:gd name="connsiteY4" fmla="*/ 526220 h 2729009"/>
              <a:gd name="connsiteX5" fmla="*/ 0 w 443062"/>
              <a:gd name="connsiteY5" fmla="*/ 657219 h 2729009"/>
              <a:gd name="connsiteX6" fmla="*/ 952 w 443062"/>
              <a:gd name="connsiteY6" fmla="*/ 2729009 h 2729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062" h="2729009">
                <a:moveTo>
                  <a:pt x="443062" y="2713769"/>
                </a:moveTo>
                <a:lnTo>
                  <a:pt x="443062" y="657219"/>
                </a:lnTo>
                <a:cubicBezTo>
                  <a:pt x="443062" y="607017"/>
                  <a:pt x="401282" y="525849"/>
                  <a:pt x="358859" y="466756"/>
                </a:cubicBezTo>
                <a:lnTo>
                  <a:pt x="1358" y="0"/>
                </a:lnTo>
                <a:cubicBezTo>
                  <a:pt x="-432" y="175407"/>
                  <a:pt x="2542" y="350813"/>
                  <a:pt x="752" y="526220"/>
                </a:cubicBezTo>
                <a:cubicBezTo>
                  <a:pt x="501" y="569886"/>
                  <a:pt x="251" y="613553"/>
                  <a:pt x="0" y="657219"/>
                </a:cubicBezTo>
                <a:cubicBezTo>
                  <a:pt x="0" y="1276854"/>
                  <a:pt x="952" y="2729009"/>
                  <a:pt x="952" y="2729009"/>
                </a:cubicBezTo>
              </a:path>
            </a:pathLst>
          </a:custGeom>
          <a:gradFill flip="none" rotWithShape="1">
            <a:gsLst>
              <a:gs pos="100000">
                <a:srgbClr val="0B4598"/>
              </a:gs>
              <a:gs pos="0">
                <a:srgbClr val="0070C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540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 flipH="1">
            <a:off x="6385384" y="0"/>
            <a:ext cx="3520616" cy="6858000"/>
          </a:xfrm>
          <a:prstGeom prst="rect">
            <a:avLst/>
          </a:prstGeom>
          <a:gradFill flip="none" rotWithShape="1">
            <a:gsLst>
              <a:gs pos="100000">
                <a:srgbClr val="2363A8"/>
              </a:gs>
              <a:gs pos="18000">
                <a:srgbClr val="0B4598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noProof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635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orient="horz" pos="164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41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 flipH="1">
            <a:off x="6385384" y="0"/>
            <a:ext cx="3520616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noProof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228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orient="horz" pos="164">
          <p15:clr>
            <a:srgbClr val="FBAE40"/>
          </p15:clr>
        </p15:guide>
        <p15:guide id="3" pos="172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41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내지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/>
          <p:cNvCxnSpPr/>
          <p:nvPr userDrawn="1"/>
        </p:nvCxnSpPr>
        <p:spPr>
          <a:xfrm>
            <a:off x="0" y="6533114"/>
            <a:ext cx="9906001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3"/>
          <p:cNvSpPr>
            <a:spLocks noChangeArrowheads="1"/>
          </p:cNvSpPr>
          <p:nvPr userDrawn="1"/>
        </p:nvSpPr>
        <p:spPr bwMode="auto">
          <a:xfrm>
            <a:off x="4680971" y="6629696"/>
            <a:ext cx="5440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fld id="{88B3AE5A-10BA-4173-8E7E-D8F2BB88D393}" type="slidenum">
              <a:rPr lang="en-US" altLang="ko-KR" sz="800" smtClean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pPr lvl="0" algn="ctr"/>
              <a:t>‹#›</a:t>
            </a:fld>
            <a:endParaRPr lang="ko-KR" altLang="ko-KR" sz="8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6504C2D-B4E7-40C6-66DF-5638B08B9512}"/>
              </a:ext>
            </a:extLst>
          </p:cNvPr>
          <p:cNvCxnSpPr>
            <a:cxnSpLocks/>
          </p:cNvCxnSpPr>
          <p:nvPr userDrawn="1"/>
        </p:nvCxnSpPr>
        <p:spPr>
          <a:xfrm>
            <a:off x="0" y="640759"/>
            <a:ext cx="9790978" cy="0"/>
          </a:xfrm>
          <a:prstGeom prst="line">
            <a:avLst/>
          </a:prstGeom>
          <a:ln>
            <a:gradFill flip="none" rotWithShape="1">
              <a:gsLst>
                <a:gs pos="0">
                  <a:srgbClr val="323C54">
                    <a:alpha val="0"/>
                  </a:srgbClr>
                </a:gs>
                <a:gs pos="100000">
                  <a:srgbClr val="225D9B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위쪽 모서리 7">
            <a:extLst>
              <a:ext uri="{FF2B5EF4-FFF2-40B4-BE49-F238E27FC236}">
                <a16:creationId xmlns:a16="http://schemas.microsoft.com/office/drawing/2014/main" id="{5660ABD6-74B7-6E62-DC9A-FA0E5C8B83E0}"/>
              </a:ext>
            </a:extLst>
          </p:cNvPr>
          <p:cNvSpPr/>
          <p:nvPr userDrawn="1"/>
        </p:nvSpPr>
        <p:spPr>
          <a:xfrm rot="10800000">
            <a:off x="0" y="0"/>
            <a:ext cx="9906000" cy="46865"/>
          </a:xfrm>
          <a:prstGeom prst="round2SameRect">
            <a:avLst/>
          </a:prstGeom>
          <a:solidFill>
            <a:srgbClr val="28C6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/>
          </a:p>
        </p:txBody>
      </p:sp>
      <p:pic>
        <p:nvPicPr>
          <p:cNvPr id="24" name="그림 2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02"/>
          <a:stretch/>
        </p:blipFill>
        <p:spPr>
          <a:xfrm>
            <a:off x="66433" y="6583484"/>
            <a:ext cx="1834475" cy="24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1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FCFE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BDC76-2B81-4710-AC94-8D4CBED52DC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15" r="40884" b="-1113"/>
          <a:stretch/>
        </p:blipFill>
        <p:spPr>
          <a:xfrm>
            <a:off x="4078939" y="3147180"/>
            <a:ext cx="1748122" cy="39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03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172">
          <p15:clr>
            <a:srgbClr val="FBAE40"/>
          </p15:clr>
        </p15:guide>
        <p15:guide id="4" orient="horz" pos="187">
          <p15:clr>
            <a:srgbClr val="FBAE40"/>
          </p15:clr>
        </p15:guide>
        <p15:guide id="5" pos="6068">
          <p15:clr>
            <a:srgbClr val="FBAE40"/>
          </p15:clr>
        </p15:guide>
        <p15:guide id="6" orient="horz" pos="413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12669-70BD-43FC-B9B4-3610C2AA606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DB7E480-B408-F2C8-5F24-65FC9B5335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497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내지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/>
          <p:cNvCxnSpPr/>
          <p:nvPr userDrawn="1"/>
        </p:nvCxnSpPr>
        <p:spPr>
          <a:xfrm>
            <a:off x="0" y="6498389"/>
            <a:ext cx="9906001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6504C2D-B4E7-40C6-66DF-5638B08B9512}"/>
              </a:ext>
            </a:extLst>
          </p:cNvPr>
          <p:cNvCxnSpPr>
            <a:cxnSpLocks/>
          </p:cNvCxnSpPr>
          <p:nvPr userDrawn="1"/>
        </p:nvCxnSpPr>
        <p:spPr>
          <a:xfrm>
            <a:off x="0" y="640759"/>
            <a:ext cx="9790978" cy="0"/>
          </a:xfrm>
          <a:prstGeom prst="line">
            <a:avLst/>
          </a:prstGeom>
          <a:ln>
            <a:gradFill flip="none" rotWithShape="1">
              <a:gsLst>
                <a:gs pos="0">
                  <a:srgbClr val="323C54">
                    <a:alpha val="0"/>
                  </a:srgbClr>
                </a:gs>
                <a:gs pos="100000">
                  <a:srgbClr val="225D9B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위쪽 모서리 7">
            <a:extLst>
              <a:ext uri="{FF2B5EF4-FFF2-40B4-BE49-F238E27FC236}">
                <a16:creationId xmlns:a16="http://schemas.microsoft.com/office/drawing/2014/main" id="{5660ABD6-74B7-6E62-DC9A-FA0E5C8B83E0}"/>
              </a:ext>
            </a:extLst>
          </p:cNvPr>
          <p:cNvSpPr/>
          <p:nvPr userDrawn="1"/>
        </p:nvSpPr>
        <p:spPr>
          <a:xfrm rot="10800000">
            <a:off x="0" y="0"/>
            <a:ext cx="9906000" cy="46865"/>
          </a:xfrm>
          <a:prstGeom prst="round2SameRect">
            <a:avLst/>
          </a:prstGeom>
          <a:solidFill>
            <a:srgbClr val="28C6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pic>
        <p:nvPicPr>
          <p:cNvPr id="24" name="그림 2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02"/>
          <a:stretch/>
        </p:blipFill>
        <p:spPr>
          <a:xfrm>
            <a:off x="66433" y="6583484"/>
            <a:ext cx="1834475" cy="24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29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내지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 userDrawn="1"/>
        </p:nvSpPr>
        <p:spPr>
          <a:xfrm>
            <a:off x="0" y="6498388"/>
            <a:ext cx="9906000" cy="359612"/>
          </a:xfrm>
          <a:prstGeom prst="rect">
            <a:avLst/>
          </a:prstGeom>
          <a:solidFill>
            <a:srgbClr val="FCFE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498389"/>
            <a:ext cx="9906001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ChangeArrowheads="1"/>
          </p:cNvSpPr>
          <p:nvPr userDrawn="1"/>
        </p:nvSpPr>
        <p:spPr bwMode="auto">
          <a:xfrm>
            <a:off x="4680971" y="6629696"/>
            <a:ext cx="5440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fld id="{88B3AE5A-10BA-4173-8E7E-D8F2BB88D393}" type="slidenum">
              <a:rPr lang="en-US" altLang="ko-KR" sz="800" smtClean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pPr lvl="0" algn="ctr"/>
              <a:t>‹#›</a:t>
            </a:fld>
            <a:endParaRPr lang="ko-KR" altLang="ko-KR" sz="8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33" name="그룹 32"/>
          <p:cNvGrpSpPr/>
          <p:nvPr userDrawn="1"/>
        </p:nvGrpSpPr>
        <p:grpSpPr>
          <a:xfrm>
            <a:off x="0" y="-1609"/>
            <a:ext cx="9906000" cy="1181515"/>
            <a:chOff x="0" y="1262413"/>
            <a:chExt cx="9906000" cy="1181515"/>
          </a:xfrm>
        </p:grpSpPr>
        <p:grpSp>
          <p:nvGrpSpPr>
            <p:cNvPr id="35" name="그룹 34"/>
            <p:cNvGrpSpPr/>
            <p:nvPr userDrawn="1"/>
          </p:nvGrpSpPr>
          <p:grpSpPr>
            <a:xfrm>
              <a:off x="0" y="1262413"/>
              <a:ext cx="9906000" cy="1181515"/>
              <a:chOff x="0" y="1262413"/>
              <a:chExt cx="9906000" cy="1181515"/>
            </a:xfrm>
          </p:grpSpPr>
          <p:sp>
            <p:nvSpPr>
              <p:cNvPr id="37" name="직사각형 36"/>
              <p:cNvSpPr/>
              <p:nvPr userDrawn="1"/>
            </p:nvSpPr>
            <p:spPr>
              <a:xfrm>
                <a:off x="0" y="1264022"/>
                <a:ext cx="9906000" cy="656839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8" name="그룹 37"/>
              <p:cNvGrpSpPr/>
              <p:nvPr userDrawn="1"/>
            </p:nvGrpSpPr>
            <p:grpSpPr>
              <a:xfrm>
                <a:off x="0" y="1262413"/>
                <a:ext cx="1566011" cy="1181515"/>
                <a:chOff x="0" y="1262413"/>
                <a:chExt cx="1566011" cy="1181515"/>
              </a:xfrm>
            </p:grpSpPr>
            <p:grpSp>
              <p:nvGrpSpPr>
                <p:cNvPr id="39" name="그룹 38"/>
                <p:cNvGrpSpPr/>
                <p:nvPr userDrawn="1"/>
              </p:nvGrpSpPr>
              <p:grpSpPr>
                <a:xfrm>
                  <a:off x="0" y="1350076"/>
                  <a:ext cx="1566011" cy="1093852"/>
                  <a:chOff x="0" y="154656"/>
                  <a:chExt cx="2417250" cy="1688439"/>
                </a:xfrm>
              </p:grpSpPr>
              <p:sp>
                <p:nvSpPr>
                  <p:cNvPr id="42" name="자유형 41"/>
                  <p:cNvSpPr/>
                  <p:nvPr/>
                </p:nvSpPr>
                <p:spPr>
                  <a:xfrm flipH="1">
                    <a:off x="442604" y="179439"/>
                    <a:ext cx="1974646" cy="856266"/>
                  </a:xfrm>
                  <a:custGeom>
                    <a:avLst/>
                    <a:gdLst>
                      <a:gd name="connsiteX0" fmla="*/ 1465703 w 1971710"/>
                      <a:gd name="connsiteY0" fmla="*/ 0 h 856265"/>
                      <a:gd name="connsiteX1" fmla="*/ 1453652 w 1971710"/>
                      <a:gd name="connsiteY1" fmla="*/ 0 h 856265"/>
                      <a:gd name="connsiteX2" fmla="*/ 719721 w 1971710"/>
                      <a:gd name="connsiteY2" fmla="*/ 0 h 856265"/>
                      <a:gd name="connsiteX3" fmla="*/ 707670 w 1971710"/>
                      <a:gd name="connsiteY3" fmla="*/ 0 h 856265"/>
                      <a:gd name="connsiteX4" fmla="*/ 290324 w 1971710"/>
                      <a:gd name="connsiteY4" fmla="*/ 276636 h 856265"/>
                      <a:gd name="connsiteX5" fmla="*/ 287773 w 1971710"/>
                      <a:gd name="connsiteY5" fmla="*/ 284852 h 856265"/>
                      <a:gd name="connsiteX6" fmla="*/ 0 w 1971710"/>
                      <a:gd name="connsiteY6" fmla="*/ 856264 h 856265"/>
                      <a:gd name="connsiteX7" fmla="*/ 797537 w 1971710"/>
                      <a:gd name="connsiteY7" fmla="*/ 856264 h 856265"/>
                      <a:gd name="connsiteX8" fmla="*/ 797545 w 1971710"/>
                      <a:gd name="connsiteY8" fmla="*/ 856265 h 856265"/>
                      <a:gd name="connsiteX9" fmla="*/ 806199 w 1971710"/>
                      <a:gd name="connsiteY9" fmla="*/ 856265 h 856265"/>
                      <a:gd name="connsiteX10" fmla="*/ 1333293 w 1971710"/>
                      <a:gd name="connsiteY10" fmla="*/ 856265 h 856265"/>
                      <a:gd name="connsiteX11" fmla="*/ 1341948 w 1971710"/>
                      <a:gd name="connsiteY11" fmla="*/ 856265 h 856265"/>
                      <a:gd name="connsiteX12" fmla="*/ 1641677 w 1971710"/>
                      <a:gd name="connsiteY12" fmla="*/ 657591 h 856265"/>
                      <a:gd name="connsiteX13" fmla="*/ 1643508 w 1971710"/>
                      <a:gd name="connsiteY13" fmla="*/ 651690 h 856265"/>
                      <a:gd name="connsiteX14" fmla="*/ 1971710 w 1971710"/>
                      <a:gd name="connsiteY14" fmla="*/ 1 h 856265"/>
                      <a:gd name="connsiteX15" fmla="*/ 1465714 w 1971710"/>
                      <a:gd name="connsiteY15" fmla="*/ 1 h 856265"/>
                      <a:gd name="connsiteX0" fmla="*/ 1465703 w 2220356"/>
                      <a:gd name="connsiteY0" fmla="*/ 0 h 856265"/>
                      <a:gd name="connsiteX1" fmla="*/ 1453652 w 2220356"/>
                      <a:gd name="connsiteY1" fmla="*/ 0 h 856265"/>
                      <a:gd name="connsiteX2" fmla="*/ 719721 w 2220356"/>
                      <a:gd name="connsiteY2" fmla="*/ 0 h 856265"/>
                      <a:gd name="connsiteX3" fmla="*/ 707670 w 2220356"/>
                      <a:gd name="connsiteY3" fmla="*/ 0 h 856265"/>
                      <a:gd name="connsiteX4" fmla="*/ 290324 w 2220356"/>
                      <a:gd name="connsiteY4" fmla="*/ 276636 h 856265"/>
                      <a:gd name="connsiteX5" fmla="*/ 287773 w 2220356"/>
                      <a:gd name="connsiteY5" fmla="*/ 284852 h 856265"/>
                      <a:gd name="connsiteX6" fmla="*/ 0 w 2220356"/>
                      <a:gd name="connsiteY6" fmla="*/ 856264 h 856265"/>
                      <a:gd name="connsiteX7" fmla="*/ 797537 w 2220356"/>
                      <a:gd name="connsiteY7" fmla="*/ 856264 h 856265"/>
                      <a:gd name="connsiteX8" fmla="*/ 797545 w 2220356"/>
                      <a:gd name="connsiteY8" fmla="*/ 856265 h 856265"/>
                      <a:gd name="connsiteX9" fmla="*/ 806199 w 2220356"/>
                      <a:gd name="connsiteY9" fmla="*/ 856265 h 856265"/>
                      <a:gd name="connsiteX10" fmla="*/ 1333293 w 2220356"/>
                      <a:gd name="connsiteY10" fmla="*/ 856265 h 856265"/>
                      <a:gd name="connsiteX11" fmla="*/ 1341948 w 2220356"/>
                      <a:gd name="connsiteY11" fmla="*/ 856265 h 856265"/>
                      <a:gd name="connsiteX12" fmla="*/ 1641677 w 2220356"/>
                      <a:gd name="connsiteY12" fmla="*/ 657591 h 856265"/>
                      <a:gd name="connsiteX13" fmla="*/ 1643508 w 2220356"/>
                      <a:gd name="connsiteY13" fmla="*/ 651690 h 856265"/>
                      <a:gd name="connsiteX14" fmla="*/ 2220356 w 2220356"/>
                      <a:gd name="connsiteY14" fmla="*/ 1 h 856265"/>
                      <a:gd name="connsiteX15" fmla="*/ 1465714 w 2220356"/>
                      <a:gd name="connsiteY15" fmla="*/ 1 h 856265"/>
                      <a:gd name="connsiteX16" fmla="*/ 1465703 w 2220356"/>
                      <a:gd name="connsiteY16" fmla="*/ 0 h 8562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220356" h="856265">
                        <a:moveTo>
                          <a:pt x="1465703" y="0"/>
                        </a:moveTo>
                        <a:lnTo>
                          <a:pt x="1453652" y="0"/>
                        </a:lnTo>
                        <a:lnTo>
                          <a:pt x="719721" y="0"/>
                        </a:lnTo>
                        <a:lnTo>
                          <a:pt x="707670" y="0"/>
                        </a:lnTo>
                        <a:cubicBezTo>
                          <a:pt x="520056" y="0"/>
                          <a:pt x="359084" y="114069"/>
                          <a:pt x="290324" y="276636"/>
                        </a:cubicBezTo>
                        <a:lnTo>
                          <a:pt x="287773" y="284852"/>
                        </a:lnTo>
                        <a:lnTo>
                          <a:pt x="0" y="856264"/>
                        </a:lnTo>
                        <a:lnTo>
                          <a:pt x="797537" y="856264"/>
                        </a:lnTo>
                        <a:cubicBezTo>
                          <a:pt x="797540" y="856264"/>
                          <a:pt x="797542" y="856265"/>
                          <a:pt x="797545" y="856265"/>
                        </a:cubicBezTo>
                        <a:lnTo>
                          <a:pt x="806199" y="856265"/>
                        </a:lnTo>
                        <a:lnTo>
                          <a:pt x="1333293" y="856265"/>
                        </a:lnTo>
                        <a:lnTo>
                          <a:pt x="1341948" y="856265"/>
                        </a:lnTo>
                        <a:cubicBezTo>
                          <a:pt x="1476688" y="856265"/>
                          <a:pt x="1592295" y="774343"/>
                          <a:pt x="1641677" y="657591"/>
                        </a:cubicBezTo>
                        <a:lnTo>
                          <a:pt x="1643508" y="651690"/>
                        </a:lnTo>
                        <a:lnTo>
                          <a:pt x="2220356" y="1"/>
                        </a:lnTo>
                        <a:lnTo>
                          <a:pt x="1465714" y="1"/>
                        </a:lnTo>
                        <a:cubicBezTo>
                          <a:pt x="1465710" y="1"/>
                          <a:pt x="1465707" y="0"/>
                          <a:pt x="1465703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096CF"/>
                      </a:gs>
                      <a:gs pos="52000">
                        <a:srgbClr val="1086C2"/>
                      </a:gs>
                      <a:gs pos="100000">
                        <a:srgbClr val="00599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 sz="1350"/>
                  </a:p>
                </p:txBody>
              </p:sp>
              <p:grpSp>
                <p:nvGrpSpPr>
                  <p:cNvPr id="43" name="그룹 42"/>
                  <p:cNvGrpSpPr/>
                  <p:nvPr/>
                </p:nvGrpSpPr>
                <p:grpSpPr>
                  <a:xfrm>
                    <a:off x="0" y="154656"/>
                    <a:ext cx="1474867" cy="1688439"/>
                    <a:chOff x="2575451" y="191485"/>
                    <a:chExt cx="1474867" cy="1688439"/>
                  </a:xfrm>
                </p:grpSpPr>
                <p:sp>
                  <p:nvSpPr>
                    <p:cNvPr id="44" name="자유형 43"/>
                    <p:cNvSpPr/>
                    <p:nvPr/>
                  </p:nvSpPr>
                  <p:spPr>
                    <a:xfrm flipH="1">
                      <a:off x="2907318" y="191485"/>
                      <a:ext cx="1143000" cy="1688439"/>
                    </a:xfrm>
                    <a:custGeom>
                      <a:avLst/>
                      <a:gdLst>
                        <a:gd name="connsiteX0" fmla="*/ 1143000 w 1143000"/>
                        <a:gd name="connsiteY0" fmla="*/ 0 h 1688439"/>
                        <a:gd name="connsiteX1" fmla="*/ 1138818 w 1143000"/>
                        <a:gd name="connsiteY1" fmla="*/ 0 h 1688439"/>
                        <a:gd name="connsiteX2" fmla="*/ 1126767 w 1143000"/>
                        <a:gd name="connsiteY2" fmla="*/ 0 h 1688439"/>
                        <a:gd name="connsiteX3" fmla="*/ 709421 w 1143000"/>
                        <a:gd name="connsiteY3" fmla="*/ 276636 h 1688439"/>
                        <a:gd name="connsiteX4" fmla="*/ 706870 w 1143000"/>
                        <a:gd name="connsiteY4" fmla="*/ 284852 h 1688439"/>
                        <a:gd name="connsiteX5" fmla="*/ 0 w 1143000"/>
                        <a:gd name="connsiteY5" fmla="*/ 1688438 h 1688439"/>
                        <a:gd name="connsiteX6" fmla="*/ 1126756 w 1143000"/>
                        <a:gd name="connsiteY6" fmla="*/ 1688438 h 1688439"/>
                        <a:gd name="connsiteX7" fmla="*/ 1126767 w 1143000"/>
                        <a:gd name="connsiteY7" fmla="*/ 1688439 h 1688439"/>
                        <a:gd name="connsiteX8" fmla="*/ 1138818 w 1143000"/>
                        <a:gd name="connsiteY8" fmla="*/ 1688439 h 1688439"/>
                        <a:gd name="connsiteX9" fmla="*/ 1143000 w 1143000"/>
                        <a:gd name="connsiteY9" fmla="*/ 1688439 h 16884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143000" h="1688439">
                          <a:moveTo>
                            <a:pt x="1143000" y="0"/>
                          </a:moveTo>
                          <a:lnTo>
                            <a:pt x="1138818" y="0"/>
                          </a:lnTo>
                          <a:lnTo>
                            <a:pt x="1126767" y="0"/>
                          </a:lnTo>
                          <a:cubicBezTo>
                            <a:pt x="939153" y="0"/>
                            <a:pt x="778180" y="114069"/>
                            <a:pt x="709421" y="276636"/>
                          </a:cubicBezTo>
                          <a:lnTo>
                            <a:pt x="706870" y="284852"/>
                          </a:lnTo>
                          <a:lnTo>
                            <a:pt x="0" y="1688438"/>
                          </a:lnTo>
                          <a:lnTo>
                            <a:pt x="1126756" y="1688438"/>
                          </a:lnTo>
                          <a:lnTo>
                            <a:pt x="1126767" y="1688439"/>
                          </a:lnTo>
                          <a:lnTo>
                            <a:pt x="1138818" y="1688439"/>
                          </a:lnTo>
                          <a:lnTo>
                            <a:pt x="1143000" y="1688439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ko-KR" altLang="en-US" sz="1350"/>
                    </a:p>
                  </p:txBody>
                </p:sp>
                <p:sp>
                  <p:nvSpPr>
                    <p:cNvPr id="45" name="직사각형 44"/>
                    <p:cNvSpPr/>
                    <p:nvPr/>
                  </p:nvSpPr>
                  <p:spPr>
                    <a:xfrm>
                      <a:off x="2575451" y="191485"/>
                      <a:ext cx="331867" cy="118011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</p:grpSp>
            <p:sp>
              <p:nvSpPr>
                <p:cNvPr id="40" name="평행 사변형 39"/>
                <p:cNvSpPr/>
                <p:nvPr userDrawn="1"/>
              </p:nvSpPr>
              <p:spPr>
                <a:xfrm flipH="1">
                  <a:off x="157260" y="1350076"/>
                  <a:ext cx="632731" cy="570786"/>
                </a:xfrm>
                <a:prstGeom prst="parallelogram">
                  <a:avLst>
                    <a:gd name="adj" fmla="val 48976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평행 사변형 40"/>
                <p:cNvSpPr/>
                <p:nvPr userDrawn="1"/>
              </p:nvSpPr>
              <p:spPr>
                <a:xfrm flipH="1">
                  <a:off x="297397" y="1262413"/>
                  <a:ext cx="598040" cy="539492"/>
                </a:xfrm>
                <a:prstGeom prst="parallelogram">
                  <a:avLst>
                    <a:gd name="adj" fmla="val 48976"/>
                  </a:avLst>
                </a:prstGeom>
                <a:solidFill>
                  <a:schemeClr val="bg1">
                    <a:lumMod val="65000"/>
                    <a:alpha val="58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36" name="평행 사변형 35"/>
            <p:cNvSpPr/>
            <p:nvPr userDrawn="1"/>
          </p:nvSpPr>
          <p:spPr>
            <a:xfrm flipH="1">
              <a:off x="509271" y="1350076"/>
              <a:ext cx="1128480" cy="570786"/>
            </a:xfrm>
            <a:prstGeom prst="parallelogram">
              <a:avLst>
                <a:gd name="adj" fmla="val 48976"/>
              </a:avLst>
            </a:prstGeom>
            <a:gradFill flip="none" rotWithShape="1">
              <a:gsLst>
                <a:gs pos="33000">
                  <a:srgbClr val="0B4598"/>
                </a:gs>
                <a:gs pos="100000">
                  <a:srgbClr val="00B0F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ko-KR" altLang="en-US"/>
            </a:p>
          </p:txBody>
        </p:sp>
      </p:grpSp>
      <p:pic>
        <p:nvPicPr>
          <p:cNvPr id="20" name="그림 19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02"/>
          <a:stretch/>
        </p:blipFill>
        <p:spPr>
          <a:xfrm>
            <a:off x="66433" y="6583484"/>
            <a:ext cx="1834475" cy="24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1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내지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/>
          <p:cNvCxnSpPr/>
          <p:nvPr userDrawn="1"/>
        </p:nvCxnSpPr>
        <p:spPr>
          <a:xfrm>
            <a:off x="0" y="6498389"/>
            <a:ext cx="9906001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3"/>
          <p:cNvSpPr>
            <a:spLocks noChangeArrowheads="1"/>
          </p:cNvSpPr>
          <p:nvPr userDrawn="1"/>
        </p:nvSpPr>
        <p:spPr bwMode="auto">
          <a:xfrm>
            <a:off x="4680971" y="6629696"/>
            <a:ext cx="5440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fld id="{88B3AE5A-10BA-4173-8E7E-D8F2BB88D393}" type="slidenum">
              <a:rPr lang="en-US" altLang="ko-KR" sz="800" smtClean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pPr lvl="0" algn="ctr"/>
              <a:t>‹#›</a:t>
            </a:fld>
            <a:endParaRPr lang="ko-KR" altLang="ko-KR" sz="8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6504C2D-B4E7-40C6-66DF-5638B08B9512}"/>
              </a:ext>
            </a:extLst>
          </p:cNvPr>
          <p:cNvCxnSpPr>
            <a:cxnSpLocks/>
          </p:cNvCxnSpPr>
          <p:nvPr userDrawn="1"/>
        </p:nvCxnSpPr>
        <p:spPr>
          <a:xfrm>
            <a:off x="0" y="640759"/>
            <a:ext cx="9790978" cy="0"/>
          </a:xfrm>
          <a:prstGeom prst="line">
            <a:avLst/>
          </a:prstGeom>
          <a:ln>
            <a:gradFill flip="none" rotWithShape="1">
              <a:gsLst>
                <a:gs pos="0">
                  <a:srgbClr val="323C54">
                    <a:alpha val="0"/>
                  </a:srgbClr>
                </a:gs>
                <a:gs pos="100000">
                  <a:srgbClr val="225D9B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위쪽 모서리 7">
            <a:extLst>
              <a:ext uri="{FF2B5EF4-FFF2-40B4-BE49-F238E27FC236}">
                <a16:creationId xmlns:a16="http://schemas.microsoft.com/office/drawing/2014/main" id="{5660ABD6-74B7-6E62-DC9A-FA0E5C8B83E0}"/>
              </a:ext>
            </a:extLst>
          </p:cNvPr>
          <p:cNvSpPr/>
          <p:nvPr userDrawn="1"/>
        </p:nvSpPr>
        <p:spPr>
          <a:xfrm rot="10800000">
            <a:off x="0" y="0"/>
            <a:ext cx="9906000" cy="46865"/>
          </a:xfrm>
          <a:prstGeom prst="round2SameRect">
            <a:avLst/>
          </a:prstGeom>
          <a:solidFill>
            <a:srgbClr val="28C6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/>
          </a:p>
        </p:txBody>
      </p:sp>
      <p:pic>
        <p:nvPicPr>
          <p:cNvPr id="24" name="그림 2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02"/>
          <a:stretch/>
        </p:blipFill>
        <p:spPr>
          <a:xfrm>
            <a:off x="66433" y="6583484"/>
            <a:ext cx="1834475" cy="24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6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내지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 userDrawn="1"/>
        </p:nvSpPr>
        <p:spPr>
          <a:xfrm>
            <a:off x="0" y="6498388"/>
            <a:ext cx="9906000" cy="359612"/>
          </a:xfrm>
          <a:prstGeom prst="rect">
            <a:avLst/>
          </a:prstGeom>
          <a:solidFill>
            <a:srgbClr val="FCFE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498389"/>
            <a:ext cx="9906001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ChangeArrowheads="1"/>
          </p:cNvSpPr>
          <p:nvPr userDrawn="1"/>
        </p:nvSpPr>
        <p:spPr bwMode="auto">
          <a:xfrm>
            <a:off x="4680971" y="6629696"/>
            <a:ext cx="5440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fld id="{88B3AE5A-10BA-4173-8E7E-D8F2BB88D393}" type="slidenum">
              <a:rPr lang="en-US" altLang="ko-KR" sz="800" smtClean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pPr lvl="0" algn="ctr"/>
              <a:t>‹#›</a:t>
            </a:fld>
            <a:endParaRPr lang="ko-KR" altLang="ko-KR" sz="8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33" name="그룹 32"/>
          <p:cNvGrpSpPr/>
          <p:nvPr userDrawn="1"/>
        </p:nvGrpSpPr>
        <p:grpSpPr>
          <a:xfrm>
            <a:off x="0" y="-1609"/>
            <a:ext cx="9906000" cy="1181515"/>
            <a:chOff x="0" y="1262413"/>
            <a:chExt cx="9906000" cy="1181515"/>
          </a:xfrm>
        </p:grpSpPr>
        <p:grpSp>
          <p:nvGrpSpPr>
            <p:cNvPr id="35" name="그룹 34"/>
            <p:cNvGrpSpPr/>
            <p:nvPr userDrawn="1"/>
          </p:nvGrpSpPr>
          <p:grpSpPr>
            <a:xfrm>
              <a:off x="0" y="1262413"/>
              <a:ext cx="9906000" cy="1181515"/>
              <a:chOff x="0" y="1262413"/>
              <a:chExt cx="9906000" cy="1181515"/>
            </a:xfrm>
          </p:grpSpPr>
          <p:sp>
            <p:nvSpPr>
              <p:cNvPr id="37" name="직사각형 36"/>
              <p:cNvSpPr/>
              <p:nvPr userDrawn="1"/>
            </p:nvSpPr>
            <p:spPr>
              <a:xfrm>
                <a:off x="0" y="1264022"/>
                <a:ext cx="9906000" cy="656839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8" name="그룹 37"/>
              <p:cNvGrpSpPr/>
              <p:nvPr userDrawn="1"/>
            </p:nvGrpSpPr>
            <p:grpSpPr>
              <a:xfrm>
                <a:off x="0" y="1262413"/>
                <a:ext cx="1566011" cy="1181515"/>
                <a:chOff x="0" y="1262413"/>
                <a:chExt cx="1566011" cy="1181515"/>
              </a:xfrm>
            </p:grpSpPr>
            <p:grpSp>
              <p:nvGrpSpPr>
                <p:cNvPr id="39" name="그룹 38"/>
                <p:cNvGrpSpPr/>
                <p:nvPr userDrawn="1"/>
              </p:nvGrpSpPr>
              <p:grpSpPr>
                <a:xfrm>
                  <a:off x="0" y="1350076"/>
                  <a:ext cx="1566011" cy="1093852"/>
                  <a:chOff x="0" y="154656"/>
                  <a:chExt cx="2417250" cy="1688439"/>
                </a:xfrm>
              </p:grpSpPr>
              <p:sp>
                <p:nvSpPr>
                  <p:cNvPr id="42" name="자유형 41"/>
                  <p:cNvSpPr/>
                  <p:nvPr/>
                </p:nvSpPr>
                <p:spPr>
                  <a:xfrm flipH="1">
                    <a:off x="442604" y="179439"/>
                    <a:ext cx="1974646" cy="856266"/>
                  </a:xfrm>
                  <a:custGeom>
                    <a:avLst/>
                    <a:gdLst>
                      <a:gd name="connsiteX0" fmla="*/ 1465703 w 1971710"/>
                      <a:gd name="connsiteY0" fmla="*/ 0 h 856265"/>
                      <a:gd name="connsiteX1" fmla="*/ 1453652 w 1971710"/>
                      <a:gd name="connsiteY1" fmla="*/ 0 h 856265"/>
                      <a:gd name="connsiteX2" fmla="*/ 719721 w 1971710"/>
                      <a:gd name="connsiteY2" fmla="*/ 0 h 856265"/>
                      <a:gd name="connsiteX3" fmla="*/ 707670 w 1971710"/>
                      <a:gd name="connsiteY3" fmla="*/ 0 h 856265"/>
                      <a:gd name="connsiteX4" fmla="*/ 290324 w 1971710"/>
                      <a:gd name="connsiteY4" fmla="*/ 276636 h 856265"/>
                      <a:gd name="connsiteX5" fmla="*/ 287773 w 1971710"/>
                      <a:gd name="connsiteY5" fmla="*/ 284852 h 856265"/>
                      <a:gd name="connsiteX6" fmla="*/ 0 w 1971710"/>
                      <a:gd name="connsiteY6" fmla="*/ 856264 h 856265"/>
                      <a:gd name="connsiteX7" fmla="*/ 797537 w 1971710"/>
                      <a:gd name="connsiteY7" fmla="*/ 856264 h 856265"/>
                      <a:gd name="connsiteX8" fmla="*/ 797545 w 1971710"/>
                      <a:gd name="connsiteY8" fmla="*/ 856265 h 856265"/>
                      <a:gd name="connsiteX9" fmla="*/ 806199 w 1971710"/>
                      <a:gd name="connsiteY9" fmla="*/ 856265 h 856265"/>
                      <a:gd name="connsiteX10" fmla="*/ 1333293 w 1971710"/>
                      <a:gd name="connsiteY10" fmla="*/ 856265 h 856265"/>
                      <a:gd name="connsiteX11" fmla="*/ 1341948 w 1971710"/>
                      <a:gd name="connsiteY11" fmla="*/ 856265 h 856265"/>
                      <a:gd name="connsiteX12" fmla="*/ 1641677 w 1971710"/>
                      <a:gd name="connsiteY12" fmla="*/ 657591 h 856265"/>
                      <a:gd name="connsiteX13" fmla="*/ 1643508 w 1971710"/>
                      <a:gd name="connsiteY13" fmla="*/ 651690 h 856265"/>
                      <a:gd name="connsiteX14" fmla="*/ 1971710 w 1971710"/>
                      <a:gd name="connsiteY14" fmla="*/ 1 h 856265"/>
                      <a:gd name="connsiteX15" fmla="*/ 1465714 w 1971710"/>
                      <a:gd name="connsiteY15" fmla="*/ 1 h 856265"/>
                      <a:gd name="connsiteX0" fmla="*/ 1465703 w 2220356"/>
                      <a:gd name="connsiteY0" fmla="*/ 0 h 856265"/>
                      <a:gd name="connsiteX1" fmla="*/ 1453652 w 2220356"/>
                      <a:gd name="connsiteY1" fmla="*/ 0 h 856265"/>
                      <a:gd name="connsiteX2" fmla="*/ 719721 w 2220356"/>
                      <a:gd name="connsiteY2" fmla="*/ 0 h 856265"/>
                      <a:gd name="connsiteX3" fmla="*/ 707670 w 2220356"/>
                      <a:gd name="connsiteY3" fmla="*/ 0 h 856265"/>
                      <a:gd name="connsiteX4" fmla="*/ 290324 w 2220356"/>
                      <a:gd name="connsiteY4" fmla="*/ 276636 h 856265"/>
                      <a:gd name="connsiteX5" fmla="*/ 287773 w 2220356"/>
                      <a:gd name="connsiteY5" fmla="*/ 284852 h 856265"/>
                      <a:gd name="connsiteX6" fmla="*/ 0 w 2220356"/>
                      <a:gd name="connsiteY6" fmla="*/ 856264 h 856265"/>
                      <a:gd name="connsiteX7" fmla="*/ 797537 w 2220356"/>
                      <a:gd name="connsiteY7" fmla="*/ 856264 h 856265"/>
                      <a:gd name="connsiteX8" fmla="*/ 797545 w 2220356"/>
                      <a:gd name="connsiteY8" fmla="*/ 856265 h 856265"/>
                      <a:gd name="connsiteX9" fmla="*/ 806199 w 2220356"/>
                      <a:gd name="connsiteY9" fmla="*/ 856265 h 856265"/>
                      <a:gd name="connsiteX10" fmla="*/ 1333293 w 2220356"/>
                      <a:gd name="connsiteY10" fmla="*/ 856265 h 856265"/>
                      <a:gd name="connsiteX11" fmla="*/ 1341948 w 2220356"/>
                      <a:gd name="connsiteY11" fmla="*/ 856265 h 856265"/>
                      <a:gd name="connsiteX12" fmla="*/ 1641677 w 2220356"/>
                      <a:gd name="connsiteY12" fmla="*/ 657591 h 856265"/>
                      <a:gd name="connsiteX13" fmla="*/ 1643508 w 2220356"/>
                      <a:gd name="connsiteY13" fmla="*/ 651690 h 856265"/>
                      <a:gd name="connsiteX14" fmla="*/ 2220356 w 2220356"/>
                      <a:gd name="connsiteY14" fmla="*/ 1 h 856265"/>
                      <a:gd name="connsiteX15" fmla="*/ 1465714 w 2220356"/>
                      <a:gd name="connsiteY15" fmla="*/ 1 h 856265"/>
                      <a:gd name="connsiteX16" fmla="*/ 1465703 w 2220356"/>
                      <a:gd name="connsiteY16" fmla="*/ 0 h 8562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220356" h="856265">
                        <a:moveTo>
                          <a:pt x="1465703" y="0"/>
                        </a:moveTo>
                        <a:lnTo>
                          <a:pt x="1453652" y="0"/>
                        </a:lnTo>
                        <a:lnTo>
                          <a:pt x="719721" y="0"/>
                        </a:lnTo>
                        <a:lnTo>
                          <a:pt x="707670" y="0"/>
                        </a:lnTo>
                        <a:cubicBezTo>
                          <a:pt x="520056" y="0"/>
                          <a:pt x="359084" y="114069"/>
                          <a:pt x="290324" y="276636"/>
                        </a:cubicBezTo>
                        <a:lnTo>
                          <a:pt x="287773" y="284852"/>
                        </a:lnTo>
                        <a:lnTo>
                          <a:pt x="0" y="856264"/>
                        </a:lnTo>
                        <a:lnTo>
                          <a:pt x="797537" y="856264"/>
                        </a:lnTo>
                        <a:cubicBezTo>
                          <a:pt x="797540" y="856264"/>
                          <a:pt x="797542" y="856265"/>
                          <a:pt x="797545" y="856265"/>
                        </a:cubicBezTo>
                        <a:lnTo>
                          <a:pt x="806199" y="856265"/>
                        </a:lnTo>
                        <a:lnTo>
                          <a:pt x="1333293" y="856265"/>
                        </a:lnTo>
                        <a:lnTo>
                          <a:pt x="1341948" y="856265"/>
                        </a:lnTo>
                        <a:cubicBezTo>
                          <a:pt x="1476688" y="856265"/>
                          <a:pt x="1592295" y="774343"/>
                          <a:pt x="1641677" y="657591"/>
                        </a:cubicBezTo>
                        <a:lnTo>
                          <a:pt x="1643508" y="651690"/>
                        </a:lnTo>
                        <a:lnTo>
                          <a:pt x="2220356" y="1"/>
                        </a:lnTo>
                        <a:lnTo>
                          <a:pt x="1465714" y="1"/>
                        </a:lnTo>
                        <a:cubicBezTo>
                          <a:pt x="1465710" y="1"/>
                          <a:pt x="1465707" y="0"/>
                          <a:pt x="1465703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096CF"/>
                      </a:gs>
                      <a:gs pos="52000">
                        <a:srgbClr val="1086C2"/>
                      </a:gs>
                      <a:gs pos="100000">
                        <a:srgbClr val="00599D"/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 sz="1350"/>
                  </a:p>
                </p:txBody>
              </p:sp>
              <p:grpSp>
                <p:nvGrpSpPr>
                  <p:cNvPr id="43" name="그룹 42"/>
                  <p:cNvGrpSpPr/>
                  <p:nvPr/>
                </p:nvGrpSpPr>
                <p:grpSpPr>
                  <a:xfrm>
                    <a:off x="0" y="154656"/>
                    <a:ext cx="1474867" cy="1688439"/>
                    <a:chOff x="2575451" y="191485"/>
                    <a:chExt cx="1474867" cy="1688439"/>
                  </a:xfrm>
                </p:grpSpPr>
                <p:sp>
                  <p:nvSpPr>
                    <p:cNvPr id="44" name="자유형 43"/>
                    <p:cNvSpPr/>
                    <p:nvPr/>
                  </p:nvSpPr>
                  <p:spPr>
                    <a:xfrm flipH="1">
                      <a:off x="2907318" y="191485"/>
                      <a:ext cx="1143000" cy="1688439"/>
                    </a:xfrm>
                    <a:custGeom>
                      <a:avLst/>
                      <a:gdLst>
                        <a:gd name="connsiteX0" fmla="*/ 1143000 w 1143000"/>
                        <a:gd name="connsiteY0" fmla="*/ 0 h 1688439"/>
                        <a:gd name="connsiteX1" fmla="*/ 1138818 w 1143000"/>
                        <a:gd name="connsiteY1" fmla="*/ 0 h 1688439"/>
                        <a:gd name="connsiteX2" fmla="*/ 1126767 w 1143000"/>
                        <a:gd name="connsiteY2" fmla="*/ 0 h 1688439"/>
                        <a:gd name="connsiteX3" fmla="*/ 709421 w 1143000"/>
                        <a:gd name="connsiteY3" fmla="*/ 276636 h 1688439"/>
                        <a:gd name="connsiteX4" fmla="*/ 706870 w 1143000"/>
                        <a:gd name="connsiteY4" fmla="*/ 284852 h 1688439"/>
                        <a:gd name="connsiteX5" fmla="*/ 0 w 1143000"/>
                        <a:gd name="connsiteY5" fmla="*/ 1688438 h 1688439"/>
                        <a:gd name="connsiteX6" fmla="*/ 1126756 w 1143000"/>
                        <a:gd name="connsiteY6" fmla="*/ 1688438 h 1688439"/>
                        <a:gd name="connsiteX7" fmla="*/ 1126767 w 1143000"/>
                        <a:gd name="connsiteY7" fmla="*/ 1688439 h 1688439"/>
                        <a:gd name="connsiteX8" fmla="*/ 1138818 w 1143000"/>
                        <a:gd name="connsiteY8" fmla="*/ 1688439 h 1688439"/>
                        <a:gd name="connsiteX9" fmla="*/ 1143000 w 1143000"/>
                        <a:gd name="connsiteY9" fmla="*/ 1688439 h 16884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143000" h="1688439">
                          <a:moveTo>
                            <a:pt x="1143000" y="0"/>
                          </a:moveTo>
                          <a:lnTo>
                            <a:pt x="1138818" y="0"/>
                          </a:lnTo>
                          <a:lnTo>
                            <a:pt x="1126767" y="0"/>
                          </a:lnTo>
                          <a:cubicBezTo>
                            <a:pt x="939153" y="0"/>
                            <a:pt x="778180" y="114069"/>
                            <a:pt x="709421" y="276636"/>
                          </a:cubicBezTo>
                          <a:lnTo>
                            <a:pt x="706870" y="284852"/>
                          </a:lnTo>
                          <a:lnTo>
                            <a:pt x="0" y="1688438"/>
                          </a:lnTo>
                          <a:lnTo>
                            <a:pt x="1126756" y="1688438"/>
                          </a:lnTo>
                          <a:lnTo>
                            <a:pt x="1126767" y="1688439"/>
                          </a:lnTo>
                          <a:lnTo>
                            <a:pt x="1138818" y="1688439"/>
                          </a:lnTo>
                          <a:lnTo>
                            <a:pt x="1143000" y="1688439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ko-KR" altLang="en-US" sz="1350"/>
                    </a:p>
                  </p:txBody>
                </p:sp>
                <p:sp>
                  <p:nvSpPr>
                    <p:cNvPr id="45" name="직사각형 44"/>
                    <p:cNvSpPr/>
                    <p:nvPr/>
                  </p:nvSpPr>
                  <p:spPr>
                    <a:xfrm>
                      <a:off x="2575451" y="191485"/>
                      <a:ext cx="331867" cy="118011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</p:grpSp>
            <p:sp>
              <p:nvSpPr>
                <p:cNvPr id="40" name="평행 사변형 39"/>
                <p:cNvSpPr/>
                <p:nvPr userDrawn="1"/>
              </p:nvSpPr>
              <p:spPr>
                <a:xfrm flipH="1">
                  <a:off x="157260" y="1350076"/>
                  <a:ext cx="632731" cy="570786"/>
                </a:xfrm>
                <a:prstGeom prst="parallelogram">
                  <a:avLst>
                    <a:gd name="adj" fmla="val 48976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평행 사변형 40"/>
                <p:cNvSpPr/>
                <p:nvPr userDrawn="1"/>
              </p:nvSpPr>
              <p:spPr>
                <a:xfrm flipH="1">
                  <a:off x="297397" y="1262413"/>
                  <a:ext cx="598040" cy="539492"/>
                </a:xfrm>
                <a:prstGeom prst="parallelogram">
                  <a:avLst>
                    <a:gd name="adj" fmla="val 48976"/>
                  </a:avLst>
                </a:prstGeom>
                <a:solidFill>
                  <a:schemeClr val="bg1">
                    <a:lumMod val="65000"/>
                    <a:alpha val="58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36" name="평행 사변형 35"/>
            <p:cNvSpPr/>
            <p:nvPr userDrawn="1"/>
          </p:nvSpPr>
          <p:spPr>
            <a:xfrm flipH="1">
              <a:off x="509271" y="1350076"/>
              <a:ext cx="1128480" cy="570786"/>
            </a:xfrm>
            <a:prstGeom prst="parallelogram">
              <a:avLst>
                <a:gd name="adj" fmla="val 48976"/>
              </a:avLst>
            </a:prstGeom>
            <a:gradFill flip="none" rotWithShape="1">
              <a:gsLst>
                <a:gs pos="33000">
                  <a:srgbClr val="0B4598"/>
                </a:gs>
                <a:gs pos="100000">
                  <a:srgbClr val="00B0F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ko-KR" altLang="en-US"/>
            </a:p>
          </p:txBody>
        </p:sp>
      </p:grpSp>
      <p:pic>
        <p:nvPicPr>
          <p:cNvPr id="20" name="그림 19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02"/>
          <a:stretch/>
        </p:blipFill>
        <p:spPr>
          <a:xfrm>
            <a:off x="66433" y="6583484"/>
            <a:ext cx="1834475" cy="24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5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내지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0" y="6498389"/>
            <a:ext cx="9906001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/>
          <p:cNvSpPr>
            <a:spLocks noChangeArrowheads="1"/>
          </p:cNvSpPr>
          <p:nvPr userDrawn="1"/>
        </p:nvSpPr>
        <p:spPr bwMode="auto">
          <a:xfrm>
            <a:off x="4680971" y="6629696"/>
            <a:ext cx="5440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fld id="{88B3AE5A-10BA-4173-8E7E-D8F2BB88D393}" type="slidenum">
              <a:rPr lang="en-US" altLang="ko-KR" sz="800" smtClean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pPr lvl="0" algn="ctr"/>
              <a:t>‹#›</a:t>
            </a:fld>
            <a:endParaRPr lang="ko-KR" altLang="ko-KR" sz="8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6504C2D-B4E7-40C6-66DF-5638B08B9512}"/>
              </a:ext>
            </a:extLst>
          </p:cNvPr>
          <p:cNvCxnSpPr>
            <a:cxnSpLocks/>
          </p:cNvCxnSpPr>
          <p:nvPr userDrawn="1"/>
        </p:nvCxnSpPr>
        <p:spPr>
          <a:xfrm>
            <a:off x="0" y="640759"/>
            <a:ext cx="9790978" cy="0"/>
          </a:xfrm>
          <a:prstGeom prst="line">
            <a:avLst/>
          </a:prstGeom>
          <a:ln>
            <a:gradFill flip="none" rotWithShape="1">
              <a:gsLst>
                <a:gs pos="0">
                  <a:srgbClr val="323C54">
                    <a:alpha val="0"/>
                  </a:srgbClr>
                </a:gs>
                <a:gs pos="100000">
                  <a:srgbClr val="225D9B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5660ABD6-74B7-6E62-DC9A-FA0E5C8B83E0}"/>
              </a:ext>
            </a:extLst>
          </p:cNvPr>
          <p:cNvSpPr/>
          <p:nvPr userDrawn="1"/>
        </p:nvSpPr>
        <p:spPr>
          <a:xfrm rot="10800000">
            <a:off x="0" y="0"/>
            <a:ext cx="9906000" cy="46865"/>
          </a:xfrm>
          <a:prstGeom prst="round2SameRect">
            <a:avLst/>
          </a:prstGeom>
          <a:solidFill>
            <a:srgbClr val="28C6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02"/>
          <a:stretch/>
        </p:blipFill>
        <p:spPr>
          <a:xfrm>
            <a:off x="66433" y="6583484"/>
            <a:ext cx="1834475" cy="24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12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5653" y="195485"/>
            <a:ext cx="4291513" cy="36195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45653" y="571797"/>
            <a:ext cx="9377318" cy="604837"/>
          </a:xfrm>
          <a:prstGeom prst="rect">
            <a:avLst/>
          </a:prstGeom>
        </p:spPr>
        <p:txBody>
          <a:bodyPr/>
          <a:lstStyle>
            <a:lvl1pPr>
              <a:defRPr sz="150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제목 1"/>
          <p:cNvSpPr txBox="1">
            <a:spLocks/>
          </p:cNvSpPr>
          <p:nvPr userDrawn="1"/>
        </p:nvSpPr>
        <p:spPr>
          <a:xfrm>
            <a:off x="5422894" y="260800"/>
            <a:ext cx="4291513" cy="361950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charset="2"/>
              <a:defRPr kumimoji="1" sz="14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charset="2"/>
              <a:defRPr kumimoji="1" sz="1400">
                <a:solidFill>
                  <a:srgbClr val="000000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algn="l" rtl="0" eaLnBrk="0" fontAlgn="base" latinLnBrk="1" hangingPunct="0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charset="2"/>
              <a:defRPr kumimoji="1" sz="1400">
                <a:solidFill>
                  <a:srgbClr val="000000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algn="l" rtl="0" eaLnBrk="0" fontAlgn="base" latinLnBrk="1" hangingPunct="0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charset="2"/>
              <a:defRPr kumimoji="1" sz="1400">
                <a:solidFill>
                  <a:srgbClr val="000000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algn="l" rtl="0" eaLnBrk="0" fontAlgn="base" latinLnBrk="1" hangingPunct="0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charset="2"/>
              <a:defRPr kumimoji="1" sz="1400">
                <a:solidFill>
                  <a:srgbClr val="000000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457200" algn="l" rtl="0" fontAlgn="base" latinLnBrk="1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kumimoji="1" sz="1400">
                <a:solidFill>
                  <a:srgbClr val="000000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914400" algn="l" rtl="0" fontAlgn="base" latinLnBrk="1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kumimoji="1" sz="1400">
                <a:solidFill>
                  <a:srgbClr val="000000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1371600" algn="l" rtl="0" fontAlgn="base" latinLnBrk="1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kumimoji="1" sz="1400">
                <a:solidFill>
                  <a:srgbClr val="000000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1828800" algn="l" rtl="0" fontAlgn="base" latinLnBrk="1"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kumimoji="1" sz="1400">
                <a:solidFill>
                  <a:srgbClr val="000000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algn="r"/>
            <a:endParaRPr lang="ko-KR" altLang="en-US" b="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5" name="Line 15"/>
          <p:cNvSpPr>
            <a:spLocks noChangeShapeType="1"/>
          </p:cNvSpPr>
          <p:nvPr userDrawn="1"/>
        </p:nvSpPr>
        <p:spPr bwMode="auto">
          <a:xfrm>
            <a:off x="320675" y="549275"/>
            <a:ext cx="9285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742811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34773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897313" y="6492875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BDC76-2B81-4710-AC94-8D4CBED52DC4}" type="slidenum">
              <a:rPr lang="ko-KR" altLang="en-US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412612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718" r:id="rId7"/>
    <p:sldLayoutId id="2147483715" r:id="rId8"/>
    <p:sldLayoutId id="2147483687" r:id="rId9"/>
    <p:sldLayoutId id="2147483697" r:id="rId10"/>
    <p:sldLayoutId id="2147483707" r:id="rId11"/>
    <p:sldLayoutId id="2147483709" r:id="rId12"/>
  </p:sldLayoutIdLst>
  <p:hf hdr="0" ftr="0" dt="0"/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4529138" y="6563096"/>
            <a:ext cx="720725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fontAlgn="t">
              <a:spcBef>
                <a:spcPct val="50000"/>
              </a:spcBef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1pPr>
            <a:lvl2pPr marL="742950" indent="-285750" algn="ctr" fontAlgn="t">
              <a:spcBef>
                <a:spcPct val="50000"/>
              </a:spcBef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2pPr>
            <a:lvl3pPr marL="1143000" indent="-228600" algn="ctr" fontAlgn="t">
              <a:spcBef>
                <a:spcPct val="50000"/>
              </a:spcBef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3pPr>
            <a:lvl4pPr marL="1600200" indent="-228600" algn="ctr" fontAlgn="t">
              <a:spcBef>
                <a:spcPct val="50000"/>
              </a:spcBef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4pPr>
            <a:lvl5pPr marL="2057400" indent="-228600" algn="ctr" fontAlgn="t">
              <a:spcBef>
                <a:spcPct val="50000"/>
              </a:spcBef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5pPr>
            <a:lvl6pPr marL="2514600" indent="-228600" algn="ctr" eaLnBrk="0" fontAlgn="t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6pPr>
            <a:lvl7pPr marL="2971800" indent="-228600" algn="ctr" eaLnBrk="0" fontAlgn="t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7pPr>
            <a:lvl8pPr marL="3429000" indent="-228600" algn="ctr" eaLnBrk="0" fontAlgn="t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8pPr>
            <a:lvl9pPr marL="3886200" indent="-228600" algn="ctr" eaLnBrk="0" fontAlgn="t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HY견고딕" panose="02030600000101010101" pitchFamily="18" charset="-127"/>
              </a:defRPr>
            </a:lvl9pPr>
          </a:lstStyle>
          <a:p>
            <a:pPr fontAlgn="base">
              <a:spcBef>
                <a:spcPct val="0"/>
              </a:spcBef>
              <a:defRPr/>
            </a:pPr>
            <a:fld id="{D957D197-70D7-436B-8EC3-15559DFF82F4}" type="slidenum">
              <a:rPr lang="ko-KR" altLang="en-US" sz="1000" b="0" smtClean="0">
                <a:solidFill>
                  <a:srgbClr val="000000"/>
                </a:solidFill>
                <a:ea typeface="맑은 고딕" panose="020B0503020000020004" pitchFamily="50" charset="-127"/>
              </a:rPr>
              <a:pPr fontAlgn="base">
                <a:spcBef>
                  <a:spcPct val="0"/>
                </a:spcBef>
                <a:defRPr/>
              </a:pPr>
              <a:t>‹#›</a:t>
            </a:fld>
            <a:endParaRPr lang="en-US" altLang="ko-KR" sz="1050" b="0" dirty="0">
              <a:solidFill>
                <a:srgbClr val="000000"/>
              </a:solidFill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933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transition spd="med"/>
  <p:hf hdr="0" ftr="0" dt="0"/>
  <p:txStyles>
    <p:titleStyle>
      <a:lvl1pPr algn="l" rtl="0" eaLnBrk="0" fontAlgn="base" latinLnBrk="1" hangingPunct="0">
        <a:spcBef>
          <a:spcPct val="10000"/>
        </a:spcBef>
        <a:spcAft>
          <a:spcPct val="10000"/>
        </a:spcAft>
        <a:buClr>
          <a:schemeClr val="accent1"/>
        </a:buClr>
        <a:buSzPct val="50000"/>
        <a:buFont typeface="Monotype Sorts" charset="2"/>
        <a:defRPr kumimoji="1" sz="1400" kern="12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10000"/>
        </a:spcBef>
        <a:spcAft>
          <a:spcPct val="10000"/>
        </a:spcAft>
        <a:buClr>
          <a:schemeClr val="accent1"/>
        </a:buClr>
        <a:buSzPct val="50000"/>
        <a:buFont typeface="Monotype Sorts" charset="2"/>
        <a:defRPr kumimoji="1" sz="1400">
          <a:solidFill>
            <a:srgbClr val="000000"/>
          </a:solidFill>
          <a:latin typeface="Arial" panose="020B0604020202020204" pitchFamily="34" charset="0"/>
          <a:ea typeface="HY견고딕" panose="02030600000101010101" pitchFamily="18" charset="-127"/>
        </a:defRPr>
      </a:lvl2pPr>
      <a:lvl3pPr algn="l" rtl="0" eaLnBrk="0" fontAlgn="base" latinLnBrk="1" hangingPunct="0">
        <a:spcBef>
          <a:spcPct val="10000"/>
        </a:spcBef>
        <a:spcAft>
          <a:spcPct val="10000"/>
        </a:spcAft>
        <a:buClr>
          <a:schemeClr val="accent1"/>
        </a:buClr>
        <a:buSzPct val="50000"/>
        <a:buFont typeface="Monotype Sorts" charset="2"/>
        <a:defRPr kumimoji="1" sz="1400">
          <a:solidFill>
            <a:srgbClr val="000000"/>
          </a:solidFill>
          <a:latin typeface="Arial" panose="020B0604020202020204" pitchFamily="34" charset="0"/>
          <a:ea typeface="HY견고딕" panose="02030600000101010101" pitchFamily="18" charset="-127"/>
        </a:defRPr>
      </a:lvl3pPr>
      <a:lvl4pPr algn="l" rtl="0" eaLnBrk="0" fontAlgn="base" latinLnBrk="1" hangingPunct="0">
        <a:spcBef>
          <a:spcPct val="10000"/>
        </a:spcBef>
        <a:spcAft>
          <a:spcPct val="10000"/>
        </a:spcAft>
        <a:buClr>
          <a:schemeClr val="accent1"/>
        </a:buClr>
        <a:buSzPct val="50000"/>
        <a:buFont typeface="Monotype Sorts" charset="2"/>
        <a:defRPr kumimoji="1" sz="1400">
          <a:solidFill>
            <a:srgbClr val="000000"/>
          </a:solidFill>
          <a:latin typeface="Arial" panose="020B0604020202020204" pitchFamily="34" charset="0"/>
          <a:ea typeface="HY견고딕" panose="02030600000101010101" pitchFamily="18" charset="-127"/>
        </a:defRPr>
      </a:lvl4pPr>
      <a:lvl5pPr algn="l" rtl="0" eaLnBrk="0" fontAlgn="base" latinLnBrk="1" hangingPunct="0">
        <a:spcBef>
          <a:spcPct val="10000"/>
        </a:spcBef>
        <a:spcAft>
          <a:spcPct val="10000"/>
        </a:spcAft>
        <a:buClr>
          <a:schemeClr val="accent1"/>
        </a:buClr>
        <a:buSzPct val="50000"/>
        <a:buFont typeface="Monotype Sorts" charset="2"/>
        <a:defRPr kumimoji="1" sz="1400">
          <a:solidFill>
            <a:srgbClr val="000000"/>
          </a:solidFill>
          <a:latin typeface="Arial" panose="020B0604020202020204" pitchFamily="34" charset="0"/>
          <a:ea typeface="HY견고딕" panose="02030600000101010101" pitchFamily="18" charset="-127"/>
        </a:defRPr>
      </a:lvl5pPr>
      <a:lvl6pPr marL="457200" algn="l" rtl="0" fontAlgn="base" latinLnBrk="1">
        <a:spcBef>
          <a:spcPct val="10000"/>
        </a:spcBef>
        <a:spcAft>
          <a:spcPct val="10000"/>
        </a:spcAft>
        <a:buClr>
          <a:schemeClr val="accent1"/>
        </a:buClr>
        <a:buSzPct val="50000"/>
        <a:buFont typeface="Monotype Sorts" pitchFamily="2" charset="2"/>
        <a:defRPr kumimoji="1" sz="1400">
          <a:solidFill>
            <a:srgbClr val="000000"/>
          </a:solidFill>
          <a:latin typeface="Arial" panose="020B0604020202020204" pitchFamily="34" charset="0"/>
          <a:ea typeface="HY견고딕" panose="02030600000101010101" pitchFamily="18" charset="-127"/>
        </a:defRPr>
      </a:lvl6pPr>
      <a:lvl7pPr marL="914400" algn="l" rtl="0" fontAlgn="base" latinLnBrk="1">
        <a:spcBef>
          <a:spcPct val="10000"/>
        </a:spcBef>
        <a:spcAft>
          <a:spcPct val="10000"/>
        </a:spcAft>
        <a:buClr>
          <a:schemeClr val="accent1"/>
        </a:buClr>
        <a:buSzPct val="50000"/>
        <a:buFont typeface="Monotype Sorts" pitchFamily="2" charset="2"/>
        <a:defRPr kumimoji="1" sz="1400">
          <a:solidFill>
            <a:srgbClr val="000000"/>
          </a:solidFill>
          <a:latin typeface="Arial" panose="020B0604020202020204" pitchFamily="34" charset="0"/>
          <a:ea typeface="HY견고딕" panose="02030600000101010101" pitchFamily="18" charset="-127"/>
        </a:defRPr>
      </a:lvl7pPr>
      <a:lvl8pPr marL="1371600" algn="l" rtl="0" fontAlgn="base" latinLnBrk="1">
        <a:spcBef>
          <a:spcPct val="10000"/>
        </a:spcBef>
        <a:spcAft>
          <a:spcPct val="10000"/>
        </a:spcAft>
        <a:buClr>
          <a:schemeClr val="accent1"/>
        </a:buClr>
        <a:buSzPct val="50000"/>
        <a:buFont typeface="Monotype Sorts" pitchFamily="2" charset="2"/>
        <a:defRPr kumimoji="1" sz="1400">
          <a:solidFill>
            <a:srgbClr val="000000"/>
          </a:solidFill>
          <a:latin typeface="Arial" panose="020B0604020202020204" pitchFamily="34" charset="0"/>
          <a:ea typeface="HY견고딕" panose="02030600000101010101" pitchFamily="18" charset="-127"/>
        </a:defRPr>
      </a:lvl8pPr>
      <a:lvl9pPr marL="1828800" algn="l" rtl="0" fontAlgn="base" latinLnBrk="1">
        <a:spcBef>
          <a:spcPct val="10000"/>
        </a:spcBef>
        <a:spcAft>
          <a:spcPct val="10000"/>
        </a:spcAft>
        <a:buClr>
          <a:schemeClr val="accent1"/>
        </a:buClr>
        <a:buSzPct val="50000"/>
        <a:buFont typeface="Monotype Sorts" pitchFamily="2" charset="2"/>
        <a:defRPr kumimoji="1" sz="1400">
          <a:solidFill>
            <a:srgbClr val="000000"/>
          </a:solidFill>
          <a:latin typeface="Arial" panose="020B0604020202020204" pitchFamily="34" charset="0"/>
          <a:ea typeface="HY견고딕" panose="02030600000101010101" pitchFamily="18" charset="-127"/>
        </a:defRPr>
      </a:lvl9pPr>
    </p:titleStyle>
    <p:bodyStyle>
      <a:lvl1pPr algn="l" rtl="0" eaLnBrk="0" fontAlgn="base" latinLnBrk="1" hangingPunct="0">
        <a:spcBef>
          <a:spcPct val="10000"/>
        </a:spcBef>
        <a:spcAft>
          <a:spcPct val="10000"/>
        </a:spcAft>
        <a:buClr>
          <a:schemeClr val="accent1"/>
        </a:buClr>
        <a:buSzPct val="50000"/>
        <a:buFont typeface="Monotype Sorts" charset="2"/>
        <a:defRPr kumimoji="1" kern="1200">
          <a:solidFill>
            <a:srgbClr val="000000"/>
          </a:solidFill>
          <a:latin typeface="+mn-lt"/>
          <a:ea typeface="+mn-ea"/>
          <a:cs typeface="+mn-cs"/>
        </a:defRPr>
      </a:lvl1pPr>
      <a:lvl2pPr marL="376238" indent="-185738" algn="l" rtl="0" eaLnBrk="0" fontAlgn="base" latinLnBrk="1" hangingPunct="0">
        <a:spcBef>
          <a:spcPct val="10000"/>
        </a:spcBef>
        <a:spcAft>
          <a:spcPct val="10000"/>
        </a:spcAft>
        <a:buClr>
          <a:schemeClr val="accent1"/>
        </a:buClr>
        <a:buSzPct val="90000"/>
        <a:buFont typeface="Wingdings" panose="05000000000000000000" pitchFamily="2" charset="2"/>
        <a:buChar char="m"/>
        <a:defRPr kumimoji="1" sz="14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763588" indent="-196850" algn="l" rtl="0" eaLnBrk="0" fontAlgn="base" latinLnBrk="1" hangingPunct="0">
        <a:spcBef>
          <a:spcPct val="10000"/>
        </a:spcBef>
        <a:spcAft>
          <a:spcPct val="10000"/>
        </a:spcAft>
        <a:buClr>
          <a:schemeClr val="accent1"/>
        </a:buClr>
        <a:buSzPct val="75000"/>
        <a:buFont typeface="Wingdings" panose="05000000000000000000" pitchFamily="2" charset="2"/>
        <a:buChar char="ü"/>
        <a:defRPr kumimoji="1" sz="12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352550" indent="-169863" algn="l" rtl="0" eaLnBrk="0" fontAlgn="base" latinLnBrk="1" hangingPunct="0">
        <a:spcBef>
          <a:spcPct val="10000"/>
        </a:spcBef>
        <a:spcAft>
          <a:spcPct val="10000"/>
        </a:spcAft>
        <a:buClr>
          <a:schemeClr val="tx2"/>
        </a:buClr>
        <a:buChar char="–"/>
        <a:defRPr kumimoji="1" sz="16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1712913" indent="-169863" algn="l" rtl="0" eaLnBrk="0" fontAlgn="base" latinLnBrk="1" hangingPunct="0">
        <a:spcBef>
          <a:spcPct val="5000"/>
        </a:spcBef>
        <a:spcAft>
          <a:spcPct val="0"/>
        </a:spcAft>
        <a:buClr>
          <a:schemeClr val="tx1"/>
        </a:buClr>
        <a:buSzPct val="75000"/>
        <a:buFont typeface="Monotype Sorts" charset="2"/>
        <a:buChar char="n"/>
        <a:defRPr kumimoji="1" sz="24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C805C-16B9-3468-A4FA-53C91C335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2EB7DFB-B82E-12D1-7EC8-06B407032D25}"/>
              </a:ext>
            </a:extLst>
          </p:cNvPr>
          <p:cNvSpPr/>
          <p:nvPr/>
        </p:nvSpPr>
        <p:spPr>
          <a:xfrm>
            <a:off x="0" y="1099306"/>
            <a:ext cx="9906000" cy="1089196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spc="-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3982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신임부장 </a:t>
            </a:r>
            <a:r>
              <a:rPr kumimoji="0" lang="ko-KR" altLang="en-US" sz="4000" b="1" i="0" u="none" strike="noStrike" kern="1200" cap="none" spc="-20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3982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리더십</a:t>
            </a:r>
            <a:r>
              <a:rPr lang="ko-KR" altLang="en-US" sz="4000" b="1" spc="-20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03982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역량 진단</a:t>
            </a:r>
            <a:endParaRPr kumimoji="0" lang="en-US" altLang="ko-KR" sz="4000" b="1" i="0" u="none" strike="noStrike" kern="1200" cap="none" spc="-200" normalizeH="0" baseline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3982"/>
              </a:solidFill>
              <a:effectLst>
                <a:reflection stA="45000" endPos="2000" dist="50800" dir="5400000" sy="-100000" algn="bl" rotWithShape="0"/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KoPubWorld돋움체_Pro Bold" panose="000008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A74C85-7BFB-E8AD-AB6B-17BD529895C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02"/>
          <a:stretch/>
        </p:blipFill>
        <p:spPr>
          <a:xfrm>
            <a:off x="271692" y="325434"/>
            <a:ext cx="2319108" cy="36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150FCE7-B620-F769-E3AE-CEAAECFFA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411" y="2289068"/>
            <a:ext cx="10000611" cy="45649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8D6AD1-A044-EE4B-A024-FBA5C8D88F67}"/>
              </a:ext>
            </a:extLst>
          </p:cNvPr>
          <p:cNvSpPr txBox="1"/>
          <p:nvPr/>
        </p:nvSpPr>
        <p:spPr>
          <a:xfrm>
            <a:off x="4019679" y="2391148"/>
            <a:ext cx="175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2026.</a:t>
            </a:r>
            <a:r>
              <a:rPr kumimoji="0" lang="ko-KR" altLang="en-US" sz="1800" b="1" i="0" u="none" strike="noStrike" kern="120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 </a:t>
            </a:r>
            <a:r>
              <a:rPr kumimoji="0" lang="en-US" altLang="ko-KR" sz="1800" b="1" i="0" u="none" strike="noStrike" kern="120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3.</a:t>
            </a:r>
            <a:r>
              <a:rPr kumimoji="0" lang="ko-KR" altLang="en-US" sz="1800" b="1" i="0" u="none" strike="noStrike" kern="120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 </a:t>
            </a:r>
            <a:r>
              <a:rPr kumimoji="0" lang="en-US" altLang="ko-KR" sz="1800" b="1" i="0" u="none" strike="noStrike" kern="120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KoPubWorld돋움체_Pro Bold" panose="00000800000000000000" pitchFamily="50" charset="-127"/>
              </a:rPr>
              <a:t>5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43418E-C715-76C2-9EEB-7C3368FD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BDC76-2B81-4710-AC94-8D4CBED52DC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766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E4AE7-61FE-B29C-B689-21E748895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65339A2-2E83-51B2-6762-694B8F7353D8}"/>
              </a:ext>
            </a:extLst>
          </p:cNvPr>
          <p:cNvSpPr txBox="1"/>
          <p:nvPr/>
        </p:nvSpPr>
        <p:spPr>
          <a:xfrm>
            <a:off x="162279" y="154989"/>
            <a:ext cx="752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2-Ⅰ.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비전제시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Kits 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상황 사례 및 측정 항목</a:t>
            </a:r>
          </a:p>
        </p:txBody>
      </p:sp>
      <p:sp>
        <p:nvSpPr>
          <p:cNvPr id="2" name="모서리가 둥근 직사각형 13">
            <a:extLst>
              <a:ext uri="{FF2B5EF4-FFF2-40B4-BE49-F238E27FC236}">
                <a16:creationId xmlns:a16="http://schemas.microsoft.com/office/drawing/2014/main" id="{39335997-8462-F26F-EA9C-44DCCD529CA3}"/>
              </a:ext>
            </a:extLst>
          </p:cNvPr>
          <p:cNvSpPr/>
          <p:nvPr/>
        </p:nvSpPr>
        <p:spPr>
          <a:xfrm>
            <a:off x="273968" y="742173"/>
            <a:ext cx="9333679" cy="5696552"/>
          </a:xfrm>
          <a:prstGeom prst="roundRect">
            <a:avLst>
              <a:gd name="adj" fmla="val 1646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EC849-44E7-AB17-9045-FFDDCBBE2104}"/>
              </a:ext>
            </a:extLst>
          </p:cNvPr>
          <p:cNvSpPr txBox="1"/>
          <p:nvPr/>
        </p:nvSpPr>
        <p:spPr>
          <a:xfrm>
            <a:off x="4860499" y="7096634"/>
            <a:ext cx="3850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1/6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79099-C836-87B3-F2FB-701BA632F5D3}"/>
              </a:ext>
            </a:extLst>
          </p:cNvPr>
          <p:cNvSpPr txBox="1"/>
          <p:nvPr/>
        </p:nvSpPr>
        <p:spPr>
          <a:xfrm>
            <a:off x="1465584" y="805645"/>
            <a:ext cx="8039024" cy="32213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txBody>
          <a:bodyPr wrap="square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사례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신사업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신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시장 진출 전략 수립</a:t>
            </a:r>
            <a:endParaRPr kumimoji="0" lang="en-US" altLang="ko-KR" sz="1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배경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에너지 기업들이 신사업의 일환으로 신재생에너지 분야로 확장하지 않으면, 탄소중립, 정부 규제, 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소비자 트렌드 변화 등으로 인해 경쟁에서 도태될 위험이 있습니다. </a:t>
            </a:r>
            <a:endParaRPr kumimoji="0" lang="en-US" altLang="ko-KR" sz="1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반면, 신재생에너지로의 전환은 장기적인 비용 절감, 미래 시장 선점, 지속 가능한 성장을 가능하게 합니다. 이러한 이유로 신재생에너지 확대는 더 이상 선택이 아니라 필수적인 전략이라고 할 수 있습니다 </a:t>
            </a:r>
            <a:endParaRPr kumimoji="0" lang="en-US" altLang="ko-KR" sz="1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회사는 신사업의 일환으로 신재생에너지 분야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태양광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풍력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사업 포트폴리오를 더욱 확대하고 다각화하려 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그러나 이 시장은 이미 글로벌 경쟁이 치열하며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기술 발전과 정부 정책 변화가 빠르게 이루어지고 있습니다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귀하는 위 사례의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TFT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팀장 역할을 수행하게 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귀하는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TFT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팀장으로서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PEST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분석 도구를 활용하여 과제의 전개를 먼저 해 볼 계획입니다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따라서 귀하는 아래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단계를 거쳐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결과물을 마련한 다음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TFT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멤버들에게 결과를 설명해야 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전략을 수립하는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단계입니다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첨부 자료의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PEST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분석 자료를 참고하여 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외부 환경을 분석합니다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PEST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분석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결과를 바탕으로 전략목표와 전략과제를 도출합니다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전략과제별 달성방안을 구체적으로 수립합니다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과제 숙지 및 자료를 준비하는 시간은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30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분이며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준비한 내용을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분간 설명해야 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5A8FD82-3BB8-D486-27B9-AE4722C27B32}"/>
              </a:ext>
            </a:extLst>
          </p:cNvPr>
          <p:cNvSpPr/>
          <p:nvPr/>
        </p:nvSpPr>
        <p:spPr>
          <a:xfrm>
            <a:off x="354282" y="809161"/>
            <a:ext cx="1049515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상황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000" b="1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지시문</a:t>
            </a:r>
            <a:endParaRPr kumimoji="0" lang="ko-KR" altLang="en-US" sz="1000" b="1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사각형: 둥근 모서리 11">
            <a:extLst>
              <a:ext uri="{FF2B5EF4-FFF2-40B4-BE49-F238E27FC236}">
                <a16:creationId xmlns:a16="http://schemas.microsoft.com/office/drawing/2014/main" id="{60237414-47EA-EF5D-F134-F0AE0B46356A}"/>
              </a:ext>
            </a:extLst>
          </p:cNvPr>
          <p:cNvSpPr/>
          <p:nvPr/>
        </p:nvSpPr>
        <p:spPr>
          <a:xfrm>
            <a:off x="347843" y="4283552"/>
            <a:ext cx="1049515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측정 항목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1B7B508-D02B-2DBB-7665-1C7AB845B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312228"/>
              </p:ext>
            </p:extLst>
          </p:nvPr>
        </p:nvGraphicFramePr>
        <p:xfrm>
          <a:off x="1459144" y="4289428"/>
          <a:ext cx="8039024" cy="197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910">
                  <a:extLst>
                    <a:ext uri="{9D8B030D-6E8A-4147-A177-3AD203B41FA5}">
                      <a16:colId xmlns:a16="http://schemas.microsoft.com/office/drawing/2014/main" val="2770646335"/>
                    </a:ext>
                  </a:extLst>
                </a:gridCol>
                <a:gridCol w="6437114">
                  <a:extLst>
                    <a:ext uri="{9D8B030D-6E8A-4147-A177-3AD203B41FA5}">
                      <a16:colId xmlns:a16="http://schemas.microsoft.com/office/drawing/2014/main" val="2152111655"/>
                    </a:ext>
                  </a:extLst>
                </a:gridCol>
              </a:tblGrid>
              <a:tr h="215299"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측정 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세부 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835487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88900" marR="0" lvl="0" indent="-8890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PEST </a:t>
                      </a: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이해 및 분석   </a:t>
                      </a:r>
                      <a:br>
                        <a:rPr lang="en-US" altLang="ko-KR" sz="900" b="1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</a:br>
                      <a:r>
                        <a:rPr lang="en-US" altLang="ko-KR" sz="900" b="1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 </a:t>
                      </a: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적절성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PEST 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분석 </a:t>
                      </a: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Tool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의 내용을 잘 이해하고 있으며</a:t>
                      </a: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, 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분석은 적절한가</a:t>
                      </a: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? </a:t>
                      </a:r>
                      <a:b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</a:b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- PEST 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분석을 통해 신재생에너지 사업과 관련된 기회</a:t>
                      </a: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/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위협</a:t>
                      </a: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, 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강점</a:t>
                      </a: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/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약점을 잘 도출하였는가</a:t>
                      </a: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?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 </a:t>
                      </a:r>
                      <a:endParaRPr lang="en-US" altLang="ko-KR" sz="9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824649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분석결과와 </a:t>
                      </a:r>
                      <a:r>
                        <a:rPr lang="en-US" altLang="ko-KR" sz="900" b="1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Align</a:t>
                      </a: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된 과제 </a:t>
                      </a:r>
                      <a:br>
                        <a:rPr lang="en-US" altLang="ko-KR" sz="900" b="1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</a:br>
                      <a:r>
                        <a:rPr lang="en-US" altLang="ko-KR" sz="900" b="1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   </a:t>
                      </a:r>
                      <a:r>
                        <a:rPr lang="ko-KR" altLang="en-US" sz="900" b="1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도출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분석 결과와 </a:t>
                      </a: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Align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된 전략목표와 전략과제가 도출되었는가</a:t>
                      </a:r>
                      <a:b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</a:b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- PEST 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분석에서 도출된 방향성이 실제 전략목표와 과제에 연결되어 있는가</a:t>
                      </a: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</a:rPr>
                        <a:t>?</a:t>
                      </a:r>
                      <a:endParaRPr kumimoji="0" lang="en-US" altLang="ko-KR" sz="900" b="0" i="0" u="none" strike="noStrike" kern="0" cap="none" spc="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421101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전략</a:t>
                      </a: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과제의 구성</a:t>
                      </a:r>
                      <a:r>
                        <a:rPr kumimoji="0" lang="en-US" altLang="ko-KR" sz="900" b="1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신사업 전개에 필요한 전략목표 및 과제는 중복이나 누락 없이 도출 되었는가</a:t>
                      </a:r>
                      <a:r>
                        <a:rPr lang="en-US" altLang="ko-KR" sz="900" b="0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br>
                        <a:rPr lang="en-US" altLang="ko-KR" sz="900" b="0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신사업 시장 진출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목표를 달성하기 위한 구체적이고 실행 가능한 과제를 도출했는가</a:t>
                      </a:r>
                      <a:r>
                        <a:rPr lang="ko-KR" altLang="en-US" sz="900" b="0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388315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900" b="1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과제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 도전성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전략과제는 도전적인 내용인가</a:t>
                      </a:r>
                      <a:r>
                        <a:rPr lang="en-US" altLang="ko-KR" sz="900" b="0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br>
                        <a:rPr lang="en-US" altLang="ko-KR" sz="900" b="0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현실적이면서도 현재의 업무 방식에서 한 단계 도약할 수 있는 목표를 제시하는가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891914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발표 명확성</a:t>
                      </a: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동기부여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과제의 실행에 대해 멤버들에게 명확하게 설명하는가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br>
                        <a:rPr lang="en-US" altLang="ko-KR" sz="900" b="0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단순 전달이 아닌 멤버들의 입장에서 이해와 참여에의 동기부여를 하는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가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?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105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57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FB2BA-4CC0-E98D-8BC6-E9583D15F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1411338-A09C-3049-7F3D-3C6965B6ECD5}"/>
              </a:ext>
            </a:extLst>
          </p:cNvPr>
          <p:cNvSpPr txBox="1"/>
          <p:nvPr/>
        </p:nvSpPr>
        <p:spPr>
          <a:xfrm>
            <a:off x="162278" y="154989"/>
            <a:ext cx="5988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ko-KR" altLang="en-US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자료 </a:t>
            </a:r>
            <a:r>
              <a:rPr lang="en-US" altLang="ko-KR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1. </a:t>
            </a:r>
            <a:r>
              <a:rPr lang="ko-KR" altLang="en-US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신사업</a:t>
            </a:r>
            <a:r>
              <a:rPr lang="en-US" altLang="ko-KR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, </a:t>
            </a:r>
            <a:r>
              <a:rPr lang="ko-KR" altLang="en-US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신재생 에너지 분야로의 확대 배경</a:t>
            </a:r>
            <a:endParaRPr kumimoji="0" lang="ko-KR" altLang="en-US" sz="2000" b="1" i="0" u="none" strike="noStrike" kern="1200" cap="none" spc="-10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2060"/>
              </a:solidFill>
              <a:effectLst>
                <a:reflection stA="45000" endPos="2000" dist="50800" dir="5400000" sy="-100000" algn="bl" rotWithShape="0"/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4B87DA-4339-7A7D-3F07-AED07A5C3D29}"/>
              </a:ext>
            </a:extLst>
          </p:cNvPr>
          <p:cNvSpPr txBox="1"/>
          <p:nvPr/>
        </p:nvSpPr>
        <p:spPr>
          <a:xfrm>
            <a:off x="4866938" y="6542845"/>
            <a:ext cx="3850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2/5</a:t>
            </a:r>
            <a:endParaRPr lang="ko-KR" altLang="en-US" sz="1050" dirty="0"/>
          </a:p>
        </p:txBody>
      </p:sp>
      <p:sp>
        <p:nvSpPr>
          <p:cNvPr id="8" name="모서리가 둥근 직사각형 13">
            <a:extLst>
              <a:ext uri="{FF2B5EF4-FFF2-40B4-BE49-F238E27FC236}">
                <a16:creationId xmlns:a16="http://schemas.microsoft.com/office/drawing/2014/main" id="{50A682FA-51F2-A227-72AA-81DB4B8894EA}"/>
              </a:ext>
            </a:extLst>
          </p:cNvPr>
          <p:cNvSpPr/>
          <p:nvPr/>
        </p:nvSpPr>
        <p:spPr>
          <a:xfrm>
            <a:off x="259134" y="796147"/>
            <a:ext cx="9370056" cy="5391007"/>
          </a:xfrm>
          <a:prstGeom prst="roundRect">
            <a:avLst>
              <a:gd name="adj" fmla="val 1646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49787-7A9F-EE4C-7FD5-80166C1D81EA}"/>
              </a:ext>
            </a:extLst>
          </p:cNvPr>
          <p:cNvSpPr txBox="1"/>
          <p:nvPr/>
        </p:nvSpPr>
        <p:spPr>
          <a:xfrm>
            <a:off x="276225" y="847702"/>
            <a:ext cx="941990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글로벌 환경 규제 강화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탄소중립 목표: 많은 국가와 기업들이 2050년까지 탄소중립(Net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Zero</a:t>
            </a: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)을 달성하겠다고 선언했습니다. 화석연료 중심의 에너지 생산은 탄소배출을 줄이기 어렵기 때문에 신재생에너지 확대는 필수적입니다.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기후 변화 대응: 전 세계적으로 기후변화가 가속화되며, 에너지 산업은 주요 탄소 배출원으로 지목되고 있습니다. 신재생에너지로의 전환은 탄소 배출을 완화하여 기후 변화에 대응하기 위한 필수적인 선택입니다.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규제 강화: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EU를</a:t>
            </a: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비롯한 여러 지역에서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탄소세</a:t>
            </a: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Carbon</a:t>
            </a: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Tax</a:t>
            </a: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)와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배출권</a:t>
            </a: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거래제도(ETS)가 도입 및 강화되고 있어, 화석연료 의존이 높은 기업들은 비용 압박을 받을 수 있습니다.</a:t>
            </a:r>
            <a:endParaRPr kumimoji="0" lang="en-US" altLang="ko-KR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기술 발전으로 인한 비용 절감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태양광 및 풍력 기술 발전: 기술의 발전으로 태양광 패널, 풍력 터빈의 설치 및 유지 비용이 지속적으로 감소하고 있습니다. 예를 들어, 태양광 발전 비용은 지난 10년 동안 80% 이상 감소했습니다.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에너지 저장 기술 개선: 배터리 및 에너지 저장 시스템(ESS)의 혁신으로 간헐적인 신재생에너지의 안정적 공급이 가능해지고 있습니다.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경제적 경쟁력: 많은 지역에서 태양광과 풍력 발전의 단가가 석탄, 천연가스 발전보다 낮아지며 경쟁력이 증가하고 있습니다.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그리드 패리티</a:t>
            </a:r>
            <a:r>
              <a:rPr kumimoji="0" lang="en-US" altLang="ko-KR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 에너지 수요의 변화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전기 수요 증가: 전기차(EV), 데이터 센터, 스마트 그리드 등으로 인해 전기 수요가 급격히 증가하고 있습니다. 이러한 수요는 지속 가능하고 청정한 에너지원으로 충족되어야 합니다. </a:t>
            </a:r>
            <a:endParaRPr kumimoji="0" lang="en-US" altLang="ko-KR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소비자 의식 변화: 고객이 더 이상 단순히 저렴한 전기를 요구하는 것이 아니라, 환경 친화적이고 지속 가능한 에너지를 선호하는 경향이 강합니다</a:t>
            </a:r>
            <a:r>
              <a:rPr kumimoji="0" lang="en-US" altLang="ko-KR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정부와 국제기구의 지원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보조금 및 정책 지원: 전 세계적으로 정부가 신재생에너지 프로젝트에 대한 보조금을 제공하고, 재생에너지 의무 공급 비율을 설정하고 있습니다.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금융기관의 투자 확대: </a:t>
            </a:r>
            <a:r>
              <a:rPr kumimoji="0" lang="ko-KR" altLang="en-US" sz="1100" b="0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ESG에</a:t>
            </a: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대한 관심이 높아지면서, 금융기관들이 화석연료 산업에 대한 투자를 줄이고 신재생에너지 프로젝트에 자금을 집중하고 있습니다.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국제 협력과 파트너십: 파리협정과 같은 국제적 협정은 재생에너지 확대를 글로벌 의제로 채택하고 있습니다.</a:t>
            </a:r>
            <a:endParaRPr kumimoji="0" lang="en-US" altLang="ko-KR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5. 장기적 지속 가능성과 경쟁력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화석연료의 고갈: 화석연료는 유한 자원으로, 매장량이 점점 줄어들고 있어 가격 변동성이 큽니다. 반면, 태양광과 풍력은 무한한 에너지원입니다.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미래 에너지 시장 선점: 신재생에너지는 향후 에너지 시장의 핵심으로 자리 잡을 것이며, 이를 조기에 확대하는 기업이 시장 경쟁에서 유리한 위치를 차지할 수 있습니다.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브랜드 이미지 강화: 신재생에너지로의 전환은 친환경적인 브랜드 이미지를 구축하고, ESG 경영을 통해 투자자와 소비자들의 신뢰를 얻는 데 기여합니다.</a:t>
            </a:r>
            <a:endParaRPr kumimoji="0" lang="en-US" altLang="ko-KR" sz="11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272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ED4B9-FBD0-5B53-D0BA-BE4029A82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B6BC8E2-612D-9E64-1AC4-EF1460CF332C}"/>
              </a:ext>
            </a:extLst>
          </p:cNvPr>
          <p:cNvSpPr txBox="1"/>
          <p:nvPr/>
        </p:nvSpPr>
        <p:spPr>
          <a:xfrm>
            <a:off x="162278" y="154989"/>
            <a:ext cx="4973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자료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lang="en-US" altLang="ko-KR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. PEST </a:t>
            </a:r>
            <a:r>
              <a:rPr lang="ko-KR" altLang="en-US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분석 도구 이해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4B87DA-4339-7A7D-3F07-AED07A5C3D29}"/>
              </a:ext>
            </a:extLst>
          </p:cNvPr>
          <p:cNvSpPr txBox="1"/>
          <p:nvPr/>
        </p:nvSpPr>
        <p:spPr>
          <a:xfrm>
            <a:off x="4866938" y="6542845"/>
            <a:ext cx="3850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3/4</a:t>
            </a:r>
            <a:endParaRPr lang="ko-KR" altLang="en-US" sz="1050" dirty="0"/>
          </a:p>
        </p:txBody>
      </p:sp>
      <p:sp>
        <p:nvSpPr>
          <p:cNvPr id="2" name="Text Box 132">
            <a:extLst>
              <a:ext uri="{FF2B5EF4-FFF2-40B4-BE49-F238E27FC236}">
                <a16:creationId xmlns:a16="http://schemas.microsoft.com/office/drawing/2014/main" id="{304F4230-CEFD-14B3-CD4F-D7AD7082D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853" y="896316"/>
            <a:ext cx="2743447" cy="2330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marR="0" lvl="0" indent="-177800" algn="just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4927723" algn="l"/>
              </a:tabLst>
              <a:defRPr/>
            </a:pPr>
            <a:r>
              <a:rPr kumimoji="0" lang="ko-KR" altLang="en-US" sz="1400" b="1" i="0" u="sng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sng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PEST </a:t>
            </a:r>
            <a:r>
              <a:rPr kumimoji="0" lang="ko-KR" altLang="en-US" sz="1400" b="1" i="0" u="sng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분석이란</a:t>
            </a:r>
            <a:endParaRPr kumimoji="0" lang="en-US" altLang="ko-KR" sz="1400" b="1" i="0" u="sng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FAC531-008D-BC9D-28E2-EFFD1D4F76ED}"/>
              </a:ext>
            </a:extLst>
          </p:cNvPr>
          <p:cNvSpPr/>
          <p:nvPr/>
        </p:nvSpPr>
        <p:spPr>
          <a:xfrm>
            <a:off x="740400" y="1227097"/>
            <a:ext cx="8706230" cy="16722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PEST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분석은 기업을 둘러싼 외부환경을 정치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(Political),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(Economic),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(Social),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(Technology)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가지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관점으로 분석하는 프레임 워크입니다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85725" marR="0" lvl="0" indent="-857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 네가지 범주는 비즈니스 운영에 직간접적인 영향을 미치며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각각의 요소들을 파악함으로써 기업들은 보다 효과적이고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전략적인 결정을 내릴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85725" marR="0" lvl="0" indent="-857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기업이나 조직이 외부 환경을 이해하고 전략적 의사결정을 내리는 데 큰 도움이 되는 전략입니다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예를 들어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새로운 정부정책이 도입되면 기업은 이에 대응하는 전략을 수립하며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경제적 변동이 있을 때 비용 구조와 투자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계획을 재조정합니다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또한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사회적 추세와 기술 발전을 분석함으로써 소비자의 니즈와 시장의 기술적 요구에 부응하는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제품과 서비스를 개발할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CDD64C0-7708-34FD-CBBC-23639BB1A601}"/>
              </a:ext>
            </a:extLst>
          </p:cNvPr>
          <p:cNvSpPr/>
          <p:nvPr/>
        </p:nvSpPr>
        <p:spPr>
          <a:xfrm>
            <a:off x="694453" y="3054538"/>
            <a:ext cx="903216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정치적 요인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(Political Factors)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법률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정부정책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무역제한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세금 정책과 같은 국가의 </a:t>
            </a:r>
            <a:r>
              <a:rPr lang="ko-KR" altLang="en-US" sz="12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정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치적 환경과 관련된 요소를 말합니다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예를 들어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정부의 환경규제 강화는 제조업체들이 생산 공정을 변경하도록 요구할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85725" marR="0" lvl="0" indent="-857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경제적 요인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(Economic Factors)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물가상승률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경기동향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이자율 환율 및 실업률 등이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이러한 요인들은 기업의 구매력과 비용 구조에 직접적인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영향을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예를 들어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높은 이자율은 기업의 자금조달 비용을 증가 시키고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강한 환율은 수출하는 기업에 유리할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85725" marR="0" lvl="0" indent="-857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사회적 요인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(Social Factors)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인구통계학적 변화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문화적 경향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교육 수준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생활 방식의 변화와 같은 사회 내의 변화 등을 말합니다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이러한 변화는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소비자의 행동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소비패턴에 영향을 미치고 시장의 수요 구조를 변화시킵니다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예를 들어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고령화 사회는 건강관련 제품과 서비스에 대한 수요 증가를 가져올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85725" marR="0" lvl="0" indent="-857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기술적 요인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(Technology Factors)</a:t>
            </a:r>
            <a:b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기술혁신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연구개발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투자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기술규제 및 기술의 수명주기 등이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기술의 발전은 제품 개발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제조 공정의 효율성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시장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접근 방식 및 서비스 제공 방식에 혁신을 가져올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예를 들어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아마존은 기술혁신을 통해 물류와 유통의 효율성을 극대화한 대표적인 기업입니다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13">
            <a:extLst>
              <a:ext uri="{FF2B5EF4-FFF2-40B4-BE49-F238E27FC236}">
                <a16:creationId xmlns:a16="http://schemas.microsoft.com/office/drawing/2014/main" id="{B64DBAA1-630B-0982-0F4B-6CC5C5A1B611}"/>
              </a:ext>
            </a:extLst>
          </p:cNvPr>
          <p:cNvSpPr/>
          <p:nvPr/>
        </p:nvSpPr>
        <p:spPr>
          <a:xfrm>
            <a:off x="386025" y="769121"/>
            <a:ext cx="9060605" cy="5373976"/>
          </a:xfrm>
          <a:prstGeom prst="roundRect">
            <a:avLst>
              <a:gd name="adj" fmla="val 1646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52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A24C-46E6-99BA-F2F9-E6F6C2313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F6EEA9F-3743-AA95-CC2F-E434C9B7233C}"/>
              </a:ext>
            </a:extLst>
          </p:cNvPr>
          <p:cNvSpPr txBox="1"/>
          <p:nvPr/>
        </p:nvSpPr>
        <p:spPr>
          <a:xfrm>
            <a:off x="162279" y="154989"/>
            <a:ext cx="752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2-Ⅰ.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비전제시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Kits 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측정 </a:t>
            </a:r>
            <a:r>
              <a:rPr kumimoji="0" lang="ko-KR" altLang="en-US" sz="2000" b="1" i="0" u="none" strike="noStrike" kern="1200" cap="none" spc="-10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루브릭</a:t>
            </a:r>
            <a:endParaRPr kumimoji="0" lang="ko-KR" altLang="en-US" sz="2000" b="1" i="0" u="none" strike="noStrike" kern="1200" cap="none" spc="-10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2060"/>
              </a:solidFill>
              <a:effectLst>
                <a:reflection stA="45000" endPos="2000" dist="50800" dir="5400000" sy="-100000" algn="bl" rotWithShape="0"/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C7C27D-4845-0247-E46B-44CC524F749E}"/>
              </a:ext>
            </a:extLst>
          </p:cNvPr>
          <p:cNvSpPr txBox="1"/>
          <p:nvPr/>
        </p:nvSpPr>
        <p:spPr>
          <a:xfrm>
            <a:off x="5061463" y="2673349"/>
            <a:ext cx="4608000" cy="3766219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solidFill>
              <a:schemeClr val="bg1">
                <a:lumMod val="85000"/>
              </a:schemeClr>
            </a:solidFill>
            <a:prstDash val="sysDash"/>
          </a:ln>
          <a:effectLst>
            <a:softEdge rad="0"/>
          </a:effectLst>
        </p:spPr>
        <p:txBody>
          <a:bodyPr wrap="none" rtlCol="0" anchor="t">
            <a:noAutofit/>
          </a:bodyPr>
          <a:lstStyle/>
          <a:p>
            <a:pPr>
              <a:spcAft>
                <a:spcPts val="200"/>
              </a:spcAft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 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PEST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이해 및 분석 적절성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</a:p>
          <a:p>
            <a:pPr marL="92075" lvl="0" indent="-476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PEST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분석 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Tool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의 내용을 잘 이해하고 있으며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분석은 적절한가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marL="92075" lvl="0" indent="-476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PEST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분석을 통해 신재생에너지 사업과 관련된 기회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/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위협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강점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/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약점을 잘 도출하였는가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>
              <a:spcAft>
                <a:spcPts val="200"/>
              </a:spcAft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분석결과와 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Align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된 과제 도출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</a:p>
          <a:p>
            <a:pPr lvl="0" indent="8731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분석 결과와 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Align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된 전략목표와 </a:t>
            </a:r>
            <a:r>
              <a:rPr lang="ko-KR" altLang="en-US" sz="800" kern="0" spc="-11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전략과제가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 도출되었는가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 indent="8731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PEST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분석에서 도출된 방향성이 실제 전략목표와 과제에 연결되어 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>
              <a:spcAft>
                <a:spcPts val="200"/>
              </a:spcAft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과제의 구성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신사업 전개에 필요한 전략목표 및 과제는 중복이나 누락 없이 도출 되었는가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신사업 시장 진출 목표를 달성하기 위한 구체적이고 실행 가능한 과제를 도출했는가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>
              <a:spcAft>
                <a:spcPts val="200"/>
              </a:spcAft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과제의 도전성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전략과제는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 도전적인 내용인가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현실적이면서도 현재의 업무 방식에서 한 단계 도약할 수 있는 목표를 제시하는가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>
              <a:spcAft>
                <a:spcPts val="200"/>
              </a:spcAft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 명확성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동기부여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</a:p>
          <a:p>
            <a:pPr marL="171450" lvl="0" indent="-84138">
              <a:spcAft>
                <a:spcPts val="200"/>
              </a:spcAft>
              <a:buFontTx/>
              <a:buChar char="-"/>
              <a:defRPr/>
            </a:pP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과제의 실행에 대해 </a:t>
            </a:r>
            <a:r>
              <a:rPr lang="ko-KR" altLang="en-US" sz="8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멤버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들에게 명확하게 설명하는가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marL="171450" lvl="0" indent="-84138">
              <a:spcAft>
                <a:spcPts val="200"/>
              </a:spcAft>
              <a:buFontTx/>
              <a:buChar char="-"/>
              <a:defRPr/>
            </a:pP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단순 전달이 아닌 </a:t>
            </a:r>
            <a:r>
              <a:rPr lang="ko-KR" altLang="en-US" sz="8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멤버들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의 입장에서 이해와 참여에의 동기부여를 하는가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 </a:t>
            </a:r>
            <a:r>
              <a:rPr kumimoji="0" lang="ko-KR" altLang="en-US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 기록 양식 </a:t>
            </a: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예시</a:t>
            </a: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900" b="1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70DD97D-3516-F09A-4D04-BF9E2B4476B0}"/>
              </a:ext>
            </a:extLst>
          </p:cNvPr>
          <p:cNvSpPr/>
          <p:nvPr/>
        </p:nvSpPr>
        <p:spPr>
          <a:xfrm>
            <a:off x="236538" y="2430514"/>
            <a:ext cx="1317456" cy="2199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평가자 가이드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C452B85-16F6-B537-8333-A16B48E599E5}"/>
              </a:ext>
            </a:extLst>
          </p:cNvPr>
          <p:cNvSpPr/>
          <p:nvPr/>
        </p:nvSpPr>
        <p:spPr>
          <a:xfrm>
            <a:off x="5063659" y="2430514"/>
            <a:ext cx="1317456" cy="2199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세부 평가 내용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707818-DC0C-9CF7-69C7-C61380DE84C0}"/>
              </a:ext>
            </a:extLst>
          </p:cNvPr>
          <p:cNvSpPr txBox="1"/>
          <p:nvPr/>
        </p:nvSpPr>
        <p:spPr>
          <a:xfrm>
            <a:off x="236538" y="2673349"/>
            <a:ext cx="4608000" cy="3766219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solidFill>
              <a:schemeClr val="bg1">
                <a:lumMod val="85000"/>
              </a:schemeClr>
            </a:solidFill>
            <a:prstDash val="sysDash"/>
          </a:ln>
          <a:effectLst>
            <a:softEdge rad="0"/>
          </a:effectLst>
        </p:spPr>
        <p:txBody>
          <a:bodyPr wrap="none" rtlCol="0" anchor="ctr" anchorCtr="0">
            <a:noAutofit/>
          </a:bodyPr>
          <a:lstStyle/>
          <a:p>
            <a:pPr lvl="0"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목적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평가의 목적은 리더십 역량을 객관적으로 측정하는 것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결과를 축적하여 참가자의 리더십 역량 개발 및 조직 내 리더십 지수의 지표로 활용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진행 방식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참가자는 ‘답지 자료 작성 후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제반 활동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발표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RP, GD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등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과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질의응답’을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수행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평가자는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참가자의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과제해결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과정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내용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수행 결과 등을 평가 항목별로 관찰 및 기록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항목별 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9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점 척도를 기준으로 점수를 부여하며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점수를 부여한 근거를 간략히 메모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평가자의 역할 및 원칙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객관성 유지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개인적인 선입견을 배제하고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발표 내용과 행동을 기반으로 평가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일관성 확보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기준을 준수하여 평가자 간의 차이를 최소화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행동 기반 평가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참가자의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논리적 사고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전략적 사고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전달력을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중심으로 평가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구체적 피드백 제공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후 참가자가 개선할 수 있도록 간단한 코칭을 진행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>
              <a:lnSpc>
                <a:spcPts val="1200"/>
              </a:lnSpc>
              <a:spcAft>
                <a:spcPts val="300"/>
              </a:spcAft>
              <a:defRPr/>
            </a:pPr>
            <a:endParaRPr lang="en-US" altLang="ko-KR" sz="8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lvl="0">
              <a:lnSpc>
                <a:spcPts val="1200"/>
              </a:lnSpc>
              <a:spcAft>
                <a:spcPts val="300"/>
              </a:spcAft>
              <a:defRPr/>
            </a:pP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이후 피드백 가이드</a:t>
            </a:r>
          </a:p>
          <a:p>
            <a:pPr lvl="0">
              <a:lnSpc>
                <a:spcPts val="1200"/>
              </a:lnSpc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강점 피드백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참가자가 잘한 점을 강조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>
              <a:lnSpc>
                <a:spcPts val="1200"/>
              </a:lnSpc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개선점 피드백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부족한 부분을 보완할 수 있도록 제안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>
              <a:lnSpc>
                <a:spcPts val="1200"/>
              </a:lnSpc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구체적 제안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참가자가 다음 평가에서 발전할 수 있도록 실천 가능한 방향을 제시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7A47474-DD1A-4AB7-4140-14AD29BCC854}"/>
              </a:ext>
            </a:extLst>
          </p:cNvPr>
          <p:cNvCxnSpPr>
            <a:cxnSpLocks/>
          </p:cNvCxnSpPr>
          <p:nvPr/>
        </p:nvCxnSpPr>
        <p:spPr>
          <a:xfrm>
            <a:off x="427095" y="5146963"/>
            <a:ext cx="435363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E669ADC-77A2-176F-DD49-F071B785C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861277"/>
              </p:ext>
            </p:extLst>
          </p:nvPr>
        </p:nvGraphicFramePr>
        <p:xfrm>
          <a:off x="245995" y="696141"/>
          <a:ext cx="9423468" cy="1621249"/>
        </p:xfrm>
        <a:graphic>
          <a:graphicData uri="http://schemas.openxmlformats.org/drawingml/2006/table">
            <a:tbl>
              <a:tblPr/>
              <a:tblGrid>
                <a:gridCol w="1073200">
                  <a:extLst>
                    <a:ext uri="{9D8B030D-6E8A-4147-A177-3AD203B41FA5}">
                      <a16:colId xmlns:a16="http://schemas.microsoft.com/office/drawing/2014/main" val="3486799467"/>
                    </a:ext>
                  </a:extLst>
                </a:gridCol>
                <a:gridCol w="2456505">
                  <a:extLst>
                    <a:ext uri="{9D8B030D-6E8A-4147-A177-3AD203B41FA5}">
                      <a16:colId xmlns:a16="http://schemas.microsoft.com/office/drawing/2014/main" val="1611187767"/>
                    </a:ext>
                  </a:extLst>
                </a:gridCol>
                <a:gridCol w="2023004">
                  <a:extLst>
                    <a:ext uri="{9D8B030D-6E8A-4147-A177-3AD203B41FA5}">
                      <a16:colId xmlns:a16="http://schemas.microsoft.com/office/drawing/2014/main" val="3280163750"/>
                    </a:ext>
                  </a:extLst>
                </a:gridCol>
                <a:gridCol w="1940386">
                  <a:extLst>
                    <a:ext uri="{9D8B030D-6E8A-4147-A177-3AD203B41FA5}">
                      <a16:colId xmlns:a16="http://schemas.microsoft.com/office/drawing/2014/main" val="2709148125"/>
                    </a:ext>
                  </a:extLst>
                </a:gridCol>
                <a:gridCol w="1930373">
                  <a:extLst>
                    <a:ext uri="{9D8B030D-6E8A-4147-A177-3AD203B41FA5}">
                      <a16:colId xmlns:a16="http://schemas.microsoft.com/office/drawing/2014/main" val="2552698058"/>
                    </a:ext>
                  </a:extLst>
                </a:gridCol>
              </a:tblGrid>
              <a:tr h="1929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항목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매우 우수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6~8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 이상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2~5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 미만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미흡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948699"/>
                  </a:ext>
                </a:extLst>
              </a:tr>
              <a:tr h="268625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PEST </a:t>
                      </a: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이해 및 분석 적절성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PEST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분석 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Tool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의 내용을 잘 이해하고 있으며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b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분석이 매우 적절함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PEST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분석 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Tool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의 내용을 어느 정도</a:t>
                      </a:r>
                      <a:endParaRPr lang="en-US" altLang="ko-KR" sz="8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이해하고 있으나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분석은 다소 미흡함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74295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PEST Tool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의 내용의 이해가 부족하고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분석이 미흡함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74295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PEST Tool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에 대한 이해를 못하며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b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분석 내용과 일치하지 않음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131861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분석결과와 </a:t>
                      </a:r>
                      <a:r>
                        <a:rPr lang="en-US" altLang="ko-KR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Align</a:t>
                      </a: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된 과제 도출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분석 결과와 과제도출 간의 연계성을 </a:t>
                      </a:r>
                      <a:b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명확히 설명하며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Align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된 과제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도출함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ea typeface="+mn-ea"/>
                        </a:rPr>
                        <a:t>분석 결과와 과제도출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연계성을 설명했으나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의 도출은 다소 약함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ea typeface="+mn-ea"/>
                        </a:rPr>
                        <a:t>분석 결과와 과제도출을 진행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했으나 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PEST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방향성과 연계성이 미흡함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ea typeface="+mn-ea"/>
                        </a:rPr>
                        <a:t>분석 결과와 과제도출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이 불분명하고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b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PEST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 분석과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연결되지 않음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233639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전략</a:t>
                      </a:r>
                      <a:r>
                        <a:rPr lang="en-US" altLang="ko-KR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과제의 구성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신사업 전개를 위한 전략 및 과제가 명확 하고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중복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누락 없이 체계적으로 도출됨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전략 및 과제 구성이 대체로 명확하나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일부 중복되거나 누락된 부분이 있음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전략 및 과제 간의 논리적 연결성이 부족하고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일부 중요한 과제가 누락됨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전략 및 과제가 미흡하고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실질적인 실행 계획을 수립하기 어려움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026909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과제의 도전성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신사업 성장을 견인할 수 있는</a:t>
                      </a:r>
                      <a:b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도전적인 과제가 포함됨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현실적이면서도 다소 도전적인</a:t>
                      </a:r>
                      <a:b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과제를 포함함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기존 업무 수준에서 벗어나지 않으며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도전적인 요소가 부족함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보수적인 접근으로 인해 조직의 성장과 변화를 유도하기 어려움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004054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발표 명확성</a:t>
                      </a:r>
                      <a:r>
                        <a:rPr lang="en-US" altLang="ko-KR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동기부여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전략목표 및 실행 계획을 명확히 설명하며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멤버들에게 공감과 동기를 부여함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전략목표 및 실행 계획을 설명하지만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동기부여의 강도가 다소 부족함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실행 계획을 전달했으나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동기부여하기 위한 요소가 부족함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전략목표 및 실행 계획에 대한 설명이 부족하고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참여를 이끌어내지 못함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1614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80F5E08-CCF0-3869-C141-71531D75D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558585"/>
              </p:ext>
            </p:extLst>
          </p:nvPr>
        </p:nvGraphicFramePr>
        <p:xfrm>
          <a:off x="5130266" y="5343531"/>
          <a:ext cx="4450850" cy="1028843"/>
        </p:xfrm>
        <a:graphic>
          <a:graphicData uri="http://schemas.openxmlformats.org/drawingml/2006/table">
            <a:tbl>
              <a:tblPr/>
              <a:tblGrid>
                <a:gridCol w="432000">
                  <a:extLst>
                    <a:ext uri="{9D8B030D-6E8A-4147-A177-3AD203B41FA5}">
                      <a16:colId xmlns:a16="http://schemas.microsoft.com/office/drawing/2014/main" val="3599930319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2378731215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3063410884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534315908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1064051607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561740752"/>
                    </a:ext>
                  </a:extLst>
                </a:gridCol>
                <a:gridCol w="278295">
                  <a:extLst>
                    <a:ext uri="{9D8B030D-6E8A-4147-A177-3AD203B41FA5}">
                      <a16:colId xmlns:a16="http://schemas.microsoft.com/office/drawing/2014/main" val="204014748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50929148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참가자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PEST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이해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 </a:t>
                      </a:r>
                      <a:br>
                        <a:rPr lang="en-US" altLang="ko-KR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Align</a:t>
                      </a:r>
                      <a:endParaRPr lang="ko-KR" altLang="en-US" sz="6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전략</a:t>
                      </a:r>
                      <a:r>
                        <a:rPr lang="en-US" altLang="ko-KR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 구성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</a:t>
                      </a:r>
                      <a:endParaRPr lang="en-US" altLang="ko-KR" sz="6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도전성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발표</a:t>
                      </a:r>
                      <a:r>
                        <a:rPr lang="en-US" altLang="ko-KR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동기부여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총점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메모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854136"/>
                  </a:ext>
                </a:extLst>
              </a:tr>
              <a:tr h="22749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김차장</a:t>
                      </a:r>
                      <a:endParaRPr lang="ko-KR" altLang="en-US" sz="6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목표 설정이 명확하며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실행 계획이 구체적이고 </a:t>
                      </a:r>
                      <a:b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</a:b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설득력이 높음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32349"/>
                  </a:ext>
                </a:extLst>
              </a:tr>
              <a:tr h="22749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이차장</a:t>
                      </a:r>
                      <a:endParaRPr lang="ko-KR" altLang="en-US" sz="6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목표와 실행 계획이 비교적 명확하나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동기부여 </a:t>
                      </a:r>
                      <a:b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</a:b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요소가 다소 부족함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84363"/>
                  </a:ext>
                </a:extLst>
              </a:tr>
              <a:tr h="22749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박차장</a:t>
                      </a:r>
                      <a:endParaRPr lang="ko-KR" altLang="en-US" sz="6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목표 설정이 모호하며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실행 계획과 논리성이 </a:t>
                      </a:r>
                      <a:b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</a:b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부족함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412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47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C4F7E-0AB8-380A-60F2-51ABF2664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94BA7D3-60D2-4EB1-1F7E-6FF19F094DA2}"/>
              </a:ext>
            </a:extLst>
          </p:cNvPr>
          <p:cNvSpPr txBox="1"/>
          <p:nvPr/>
        </p:nvSpPr>
        <p:spPr>
          <a:xfrm>
            <a:off x="162279" y="154989"/>
            <a:ext cx="752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2-Ⅰ.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비전제시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Kits 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작성 답지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A266627F-0D14-DFEE-EF4D-BE9257557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33149"/>
              </p:ext>
            </p:extLst>
          </p:nvPr>
        </p:nvGraphicFramePr>
        <p:xfrm>
          <a:off x="252735" y="763483"/>
          <a:ext cx="3507416" cy="5630878"/>
        </p:xfrm>
        <a:graphic>
          <a:graphicData uri="http://schemas.openxmlformats.org/drawingml/2006/table">
            <a:tbl>
              <a:tblPr/>
              <a:tblGrid>
                <a:gridCol w="636028">
                  <a:extLst>
                    <a:ext uri="{9D8B030D-6E8A-4147-A177-3AD203B41FA5}">
                      <a16:colId xmlns:a16="http://schemas.microsoft.com/office/drawing/2014/main" val="3279582460"/>
                    </a:ext>
                  </a:extLst>
                </a:gridCol>
                <a:gridCol w="2871388">
                  <a:extLst>
                    <a:ext uri="{9D8B030D-6E8A-4147-A177-3AD203B41FA5}">
                      <a16:colId xmlns:a16="http://schemas.microsoft.com/office/drawing/2014/main" val="3440403336"/>
                    </a:ext>
                  </a:extLst>
                </a:gridCol>
              </a:tblGrid>
              <a:tr h="280390">
                <a:tc>
                  <a:txBody>
                    <a:bodyPr/>
                    <a:lstStyle/>
                    <a:p>
                      <a:pPr marL="0" algn="ctr" defTabSz="742950" rtl="0" eaLnBrk="1" latinLnBrk="1" hangingPunct="1"/>
                      <a:r>
                        <a:rPr kumimoji="0" lang="ko-KR" altLang="en-US" sz="11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분석 결과 </a:t>
                      </a:r>
                      <a:r>
                        <a:rPr kumimoji="0" lang="en-US" altLang="ko-KR" sz="1100" b="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신재생에너지 시장 진출 관련</a:t>
                      </a:r>
                      <a:r>
                        <a:rPr kumimoji="0" lang="en-US" altLang="ko-KR" sz="11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1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7622">
                <a:tc>
                  <a:txBody>
                    <a:bodyPr/>
                    <a:lstStyle/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정치적</a:t>
                      </a:r>
                      <a:endParaRPr lang="en-US" altLang="ko-KR" sz="1100" b="1" dirty="0"/>
                    </a:p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요인</a:t>
                      </a:r>
                      <a:endParaRPr lang="ko-KR" altLang="en-US" sz="11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ko-KR" altLang="en-US" sz="11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668904"/>
                  </a:ext>
                </a:extLst>
              </a:tr>
              <a:tr h="1337622">
                <a:tc>
                  <a:txBody>
                    <a:bodyPr/>
                    <a:lstStyle/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경제적</a:t>
                      </a:r>
                      <a:endParaRPr lang="en-US" altLang="ko-KR" sz="1100" b="1" dirty="0"/>
                    </a:p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요인</a:t>
                      </a:r>
                      <a:endParaRPr lang="ko-KR" altLang="en-US" sz="11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1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467528"/>
                  </a:ext>
                </a:extLst>
              </a:tr>
              <a:tr h="1337622">
                <a:tc>
                  <a:txBody>
                    <a:bodyPr/>
                    <a:lstStyle/>
                    <a:p>
                      <a:pPr algn="ctr" defTabSz="957263" latinLnBrk="0"/>
                      <a:r>
                        <a:rPr lang="ko-KR" altLang="en-US" sz="1100" b="1" dirty="0"/>
                        <a:t>사회적</a:t>
                      </a:r>
                      <a:endParaRPr lang="en-US" altLang="ko-KR" sz="1100" b="1" dirty="0"/>
                    </a:p>
                    <a:p>
                      <a:pPr algn="ctr" defTabSz="957263" latinLnBrk="0"/>
                      <a:r>
                        <a:rPr lang="ko-KR" altLang="en-US" sz="1100" b="1" dirty="0"/>
                        <a:t>요인</a:t>
                      </a:r>
                      <a:endParaRPr lang="ko-KR" altLang="en-US" sz="11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1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566094"/>
                  </a:ext>
                </a:extLst>
              </a:tr>
              <a:tr h="1337622">
                <a:tc>
                  <a:txBody>
                    <a:bodyPr/>
                    <a:lstStyle/>
                    <a:p>
                      <a:pPr algn="ctr" defTabSz="957263" latinLnBrk="0"/>
                      <a:r>
                        <a:rPr lang="ko-KR" altLang="en-US" sz="1100" b="1" dirty="0"/>
                        <a:t>기술적</a:t>
                      </a:r>
                      <a:endParaRPr lang="en-US" altLang="ko-KR" sz="1100" b="1" dirty="0"/>
                    </a:p>
                    <a:p>
                      <a:pPr algn="ctr" defTabSz="957263" latinLnBrk="0"/>
                      <a:r>
                        <a:rPr lang="ko-KR" altLang="en-US" sz="1100" b="1" dirty="0"/>
                        <a:t>요인</a:t>
                      </a:r>
                      <a:endParaRPr lang="en-US" altLang="ko-KR" sz="11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5726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1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975477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4CB66AC2-8525-2ECA-2454-73CD32835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157622"/>
              </p:ext>
            </p:extLst>
          </p:nvPr>
        </p:nvGraphicFramePr>
        <p:xfrm>
          <a:off x="3854153" y="758230"/>
          <a:ext cx="5811140" cy="5616813"/>
        </p:xfrm>
        <a:graphic>
          <a:graphicData uri="http://schemas.openxmlformats.org/drawingml/2006/table">
            <a:tbl>
              <a:tblPr/>
              <a:tblGrid>
                <a:gridCol w="1256232">
                  <a:extLst>
                    <a:ext uri="{9D8B030D-6E8A-4147-A177-3AD203B41FA5}">
                      <a16:colId xmlns:a16="http://schemas.microsoft.com/office/drawing/2014/main" val="3279582460"/>
                    </a:ext>
                  </a:extLst>
                </a:gridCol>
                <a:gridCol w="1545741">
                  <a:extLst>
                    <a:ext uri="{9D8B030D-6E8A-4147-A177-3AD203B41FA5}">
                      <a16:colId xmlns:a16="http://schemas.microsoft.com/office/drawing/2014/main" val="2462245228"/>
                    </a:ext>
                  </a:extLst>
                </a:gridCol>
                <a:gridCol w="3009167">
                  <a:extLst>
                    <a:ext uri="{9D8B030D-6E8A-4147-A177-3AD203B41FA5}">
                      <a16:colId xmlns:a16="http://schemas.microsoft.com/office/drawing/2014/main" val="3440403336"/>
                    </a:ext>
                  </a:extLst>
                </a:gridCol>
              </a:tblGrid>
              <a:tr h="303457">
                <a:tc>
                  <a:txBody>
                    <a:bodyPr/>
                    <a:lstStyle/>
                    <a:p>
                      <a:pPr marL="0" algn="ctr" defTabSz="742950" rtl="0" eaLnBrk="1" latinLnBrk="1" hangingPunct="1"/>
                      <a:r>
                        <a:rPr kumimoji="0" lang="ko-KR" altLang="en-US" sz="11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전략 목표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2950" rtl="0" eaLnBrk="1" latinLnBrk="1" hangingPunct="1"/>
                      <a:r>
                        <a:rPr kumimoji="0" lang="ko-KR" altLang="en-US" sz="11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전략 과제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달성 방안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78">
                <a:tc rowSpan="2">
                  <a:txBody>
                    <a:bodyPr/>
                    <a:lstStyle/>
                    <a:p>
                      <a:pPr algn="ctr" defTabSz="957263" latinLnBrk="0"/>
                      <a:endParaRPr lang="ko-KR" altLang="en-US" sz="11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4572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57263" latinLnBrk="0"/>
                      <a:endParaRPr lang="ko-KR" altLang="en-US" sz="11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4572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1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566094"/>
                  </a:ext>
                </a:extLst>
              </a:tr>
              <a:tr h="2656678">
                <a:tc vMerge="1">
                  <a:txBody>
                    <a:bodyPr/>
                    <a:lstStyle/>
                    <a:p>
                      <a:pPr algn="ctr" defTabSz="957263" latinLnBrk="0"/>
                      <a:endParaRPr lang="en-US" altLang="ko-KR" sz="105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4572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57263" latinLnBrk="0"/>
                      <a:endParaRPr lang="en-US" altLang="ko-KR" sz="110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4572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5726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1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975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70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8D75F-37AB-43BF-9C03-5732E5B2E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8D0771E-5B81-3F50-7D3B-72E1F6B74C6C}"/>
              </a:ext>
            </a:extLst>
          </p:cNvPr>
          <p:cNvSpPr txBox="1"/>
          <p:nvPr/>
        </p:nvSpPr>
        <p:spPr>
          <a:xfrm>
            <a:off x="162279" y="154989"/>
            <a:ext cx="752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2-Ⅰ.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신뢰형성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Kits 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상황 사례 및 측정 항목</a:t>
            </a:r>
          </a:p>
        </p:txBody>
      </p:sp>
      <p:sp>
        <p:nvSpPr>
          <p:cNvPr id="5" name="모서리가 둥근 직사각형 13">
            <a:extLst>
              <a:ext uri="{FF2B5EF4-FFF2-40B4-BE49-F238E27FC236}">
                <a16:creationId xmlns:a16="http://schemas.microsoft.com/office/drawing/2014/main" id="{8A91E88E-72DD-9021-052B-230307F1B292}"/>
              </a:ext>
            </a:extLst>
          </p:cNvPr>
          <p:cNvSpPr/>
          <p:nvPr/>
        </p:nvSpPr>
        <p:spPr>
          <a:xfrm>
            <a:off x="312602" y="806563"/>
            <a:ext cx="9333679" cy="5581357"/>
          </a:xfrm>
          <a:prstGeom prst="roundRect">
            <a:avLst>
              <a:gd name="adj" fmla="val 1646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6F748-92A1-D831-0E13-7BF102401E92}"/>
              </a:ext>
            </a:extLst>
          </p:cNvPr>
          <p:cNvSpPr txBox="1"/>
          <p:nvPr/>
        </p:nvSpPr>
        <p:spPr>
          <a:xfrm>
            <a:off x="1497779" y="902731"/>
            <a:ext cx="7963793" cy="30162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txBody>
          <a:bodyPr wrap="square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전체 인원을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개조 나누어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각자 담당 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부서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입장을 관철해야 합니다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담당 부서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역할자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별 해당부서 시트만 배부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부서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효율성 중시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-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발전소의 운영 효율성과 연속성을 최우선으로 고려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야간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주말 작업 선호 입장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설비 교체로 인해 발전소 가동이 중단되면서 발생할 수 있는 경제적 손실과 신뢰 문제가 없어야 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야간 및 주말 작업 제안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시간대는 전력 수요가 상대적으로 낮기 때문에 가동 중단의 영향을 최소화할 수 있음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경제적 손실 최소화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"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발전이 중단되면 고객과의 계약 위반으로 벌금을 물게 되고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수익성이 크게 떨어질 것임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공급 신뢰성 유지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"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갑작스러운 정전이나 발전량 부족은 고객에게 신뢰를 잃게 하고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발전소의 이미지에 큰 타격을 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lvl="0"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2. B</a:t>
            </a:r>
            <a:r>
              <a:rPr lang="ko-KR" altLang="en-US" sz="1000" b="1" dirty="0">
                <a:solidFill>
                  <a:prstClr val="black"/>
                </a:solidFill>
              </a:rPr>
              <a:t> 부서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안전성 중시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-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안전한 작업 환경과 정확한 설비 교체를 위해 주간 근무 시간에 작업이 이루어져야 한다는 입장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작업의 질 보장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"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야간이나 주말 작업은 작업자들의 피로도와 집중력을 낮추고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이는 설비 교체의 품질을 떨어뜨릴 위험이 있음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안전성 확보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"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주간 시간대 작업은 조명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자재 관리 등에서 최상의 환경을 제공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안전은 타협할 수 없는 요소임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장기적 비용 절감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"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지금 당장 효율성을 강조하기 위해 작업 환경을 악화시키면 장기적으로 더 큰 수리비와 가동 중단 비용이 발생함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lvl="0"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3. C</a:t>
            </a:r>
            <a:r>
              <a:rPr lang="ko-KR" altLang="en-US" sz="1000" b="1" dirty="0">
                <a:solidFill>
                  <a:prstClr val="black"/>
                </a:solidFill>
              </a:rPr>
              <a:t> 부서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균형성 중시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 -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비용을 최소화 하면서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단기에 안정적으로 작업을 마쳐야 하는 입장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C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부서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다른 두 부서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(A, B)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입장을 조율하며 모두를 만족시키는 합리적인 방안을 제시해야 함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야간 작업을 진행하면 비용이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배 정도 더 들어 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안전관리 요원을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배로 배정해야 하고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인건비도 추가되어야 함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주간에 작업을 진행하면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작업으로 인해 일부 부서요원들이 업무를 진행할 수 없어 대기 상태로 있어야 해서 인건비 낭비임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주어진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40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 시간내에 그룹토의를 통해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 부서 모두가 만족하는 하나의 안을 만들어내야 함</a:t>
            </a:r>
            <a:r>
              <a:rPr kumimoji="0" lang="en-US" altLang="ko-KR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3736B2-7D41-902C-3276-4FB9D1A65D10}"/>
              </a:ext>
            </a:extLst>
          </p:cNvPr>
          <p:cNvSpPr/>
          <p:nvPr/>
        </p:nvSpPr>
        <p:spPr>
          <a:xfrm>
            <a:off x="444428" y="873551"/>
            <a:ext cx="1008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상황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000" b="1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지시문</a:t>
            </a:r>
            <a:endParaRPr kumimoji="0" lang="ko-KR" altLang="en-US" sz="1000" b="1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사각형: 둥근 모서리 11">
            <a:extLst>
              <a:ext uri="{FF2B5EF4-FFF2-40B4-BE49-F238E27FC236}">
                <a16:creationId xmlns:a16="http://schemas.microsoft.com/office/drawing/2014/main" id="{4CF3649C-DBBC-555A-3F9E-FA61D0F962DC}"/>
              </a:ext>
            </a:extLst>
          </p:cNvPr>
          <p:cNvSpPr/>
          <p:nvPr/>
        </p:nvSpPr>
        <p:spPr>
          <a:xfrm>
            <a:off x="444428" y="4174077"/>
            <a:ext cx="94436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측정 항목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C907C3C-108B-AF2F-C009-24E5ED680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983471"/>
              </p:ext>
            </p:extLst>
          </p:nvPr>
        </p:nvGraphicFramePr>
        <p:xfrm>
          <a:off x="1456528" y="4198735"/>
          <a:ext cx="7963793" cy="197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18">
                  <a:extLst>
                    <a:ext uri="{9D8B030D-6E8A-4147-A177-3AD203B41FA5}">
                      <a16:colId xmlns:a16="http://schemas.microsoft.com/office/drawing/2014/main" val="2770646335"/>
                    </a:ext>
                  </a:extLst>
                </a:gridCol>
                <a:gridCol w="6376875">
                  <a:extLst>
                    <a:ext uri="{9D8B030D-6E8A-4147-A177-3AD203B41FA5}">
                      <a16:colId xmlns:a16="http://schemas.microsoft.com/office/drawing/2014/main" val="2152111655"/>
                    </a:ext>
                  </a:extLst>
                </a:gridCol>
              </a:tblGrid>
              <a:tr h="215299"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측정 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세부 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835487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88900" marR="0" lvl="0" indent="-8890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900" b="1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문제 상황 분석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역할을 맡은 담당 부서가 처한 입장을 명확히 인식하고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객관적으로 분석하는가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b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부서 간의 갈등 원인을 타 부서 입</a:t>
                      </a:r>
                      <a:r>
                        <a:rPr lang="ko-KR" altLang="en-US" sz="900" b="0" kern="0" spc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장에서 파악하는가</a:t>
                      </a:r>
                      <a:r>
                        <a:rPr lang="en-US" altLang="ko-KR" sz="900" b="0" kern="0" spc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824649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대안 도출 능력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부서간 균형을 맞춘 해결 방안을 제시했는가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b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부서의 요구를 반영하여 실현 가능한 대안을 도출했는가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421101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적극 참여</a:t>
                      </a: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목표에 기여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그룹토의 과정에서 적극적으로 집단토론에 참여하면서 결론 도출에 기여하는가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b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합의 도출 과정에서 주도적인 역할을 했는가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388315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존중과 협력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그룹토의 과정에서 상대 의견 존중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협력 분위기 조성에 기여하는가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b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자신의 의견을 주장하는 과정에서 협력적인 태도를 유지했는가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891914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설득과 협의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그룹토의 과정에서 자신의 의견을 효과적으로 설득하는가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b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자신의 의견이 토론에서 실제 반영될 수 있도록 효과적으로 조율했는가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105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86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A24C-46E6-99BA-F2F9-E6F6C2313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F6EEA9F-3743-AA95-CC2F-E434C9B7233C}"/>
              </a:ext>
            </a:extLst>
          </p:cNvPr>
          <p:cNvSpPr txBox="1"/>
          <p:nvPr/>
        </p:nvSpPr>
        <p:spPr>
          <a:xfrm>
            <a:off x="162279" y="154989"/>
            <a:ext cx="752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2-Ⅰ.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2000" b="1" spc="-10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신뢰형성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Kits 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측정 </a:t>
            </a:r>
            <a:r>
              <a:rPr kumimoji="0" lang="ko-KR" altLang="en-US" sz="2000" b="1" i="0" u="none" strike="noStrike" kern="1200" cap="none" spc="-10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루브릭</a:t>
            </a:r>
            <a:endParaRPr kumimoji="0" lang="ko-KR" altLang="en-US" sz="2000" b="1" i="0" u="none" strike="noStrike" kern="1200" cap="none" spc="-10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2060"/>
              </a:solidFill>
              <a:effectLst>
                <a:reflection stA="45000" endPos="2000" dist="50800" dir="5400000" sy="-100000" algn="bl" rotWithShape="0"/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C7C27D-4845-0247-E46B-44CC524F749E}"/>
              </a:ext>
            </a:extLst>
          </p:cNvPr>
          <p:cNvSpPr txBox="1"/>
          <p:nvPr/>
        </p:nvSpPr>
        <p:spPr>
          <a:xfrm>
            <a:off x="5061463" y="2673349"/>
            <a:ext cx="4608000" cy="3766219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solidFill>
              <a:schemeClr val="bg1">
                <a:lumMod val="85000"/>
              </a:schemeClr>
            </a:solidFill>
            <a:prstDash val="sysDash"/>
          </a:ln>
          <a:effectLst>
            <a:softEdge rad="0"/>
          </a:effectLst>
        </p:spPr>
        <p:txBody>
          <a:bodyPr wrap="none" rtlCol="0" anchor="t">
            <a:noAutofit/>
          </a:bodyPr>
          <a:lstStyle/>
          <a:p>
            <a:pPr marL="88900" lvl="0" indent="-88900"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 상황 분석 평가</a:t>
            </a:r>
          </a:p>
          <a:p>
            <a:pPr marL="92075" lvl="0" indent="-476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역할을 맡은 담당 부서가 처한 입장을 명확히 인식하고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객관적으로 분석하는가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marL="92075" lvl="0" indent="-476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부서 간의 갈등 원인을 타 부서의 입장에서 이슈를 적절하게 분석하는가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kumimoji="0" lang="ko-KR" altLang="en-US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대안 도출 능력</a:t>
            </a: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</a:t>
            </a:r>
          </a:p>
          <a:p>
            <a:pPr marL="92075" marR="0" lvl="0" indent="-47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부서</a:t>
            </a:r>
            <a:r>
              <a:rPr kumimoji="0" lang="ko-KR" altLang="en-US" sz="800" b="0" i="0" u="none" strike="noStrike" kern="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간 균형을 맞춘 해결 방안을 제시했는가</a:t>
            </a:r>
            <a:r>
              <a:rPr kumimoji="0" lang="en-US" altLang="ko-KR" sz="800" b="0" i="0" u="none" strike="noStrike" kern="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93663" marR="0" lvl="0" indent="-79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800" b="0" i="0" u="none" strike="noStrike" kern="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각 부서의 요구를 반영하여 실현 가능한 대안을 도출했는가</a:t>
            </a:r>
            <a:r>
              <a:rPr kumimoji="0" lang="en-US" altLang="ko-KR" sz="800" b="0" i="0" u="none" strike="noStrike" kern="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</a:t>
            </a:r>
          </a:p>
          <a:p>
            <a:pPr lvl="0">
              <a:spcAft>
                <a:spcPts val="200"/>
              </a:spcAft>
              <a:defRPr/>
            </a:pP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적극 참여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목표에 기여 평가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적극적으로 집단 토론에 참여하면서 결론 도출에 기여하는가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합의 도출 과정에서 주도적인 역할을 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>
              <a:spcAft>
                <a:spcPts val="200"/>
              </a:spcAft>
              <a:defRPr/>
            </a:pP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존중과 협력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상대 의견 존중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협력 분위기 조성에 기여하는가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자신의 의견을 주장하는 과정에서 협력적인 태도를 유지했는가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>
              <a:spcAft>
                <a:spcPts val="200"/>
              </a:spcAft>
              <a:defRPr/>
            </a:pP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설득과 협의 평가</a:t>
            </a:r>
          </a:p>
          <a:p>
            <a:pPr marL="171450" lvl="0" indent="-84138">
              <a:spcAft>
                <a:spcPts val="200"/>
              </a:spcAft>
              <a:buFontTx/>
              <a:buChar char="-"/>
              <a:defRPr/>
            </a:pP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토의 과정에서 자신의 의견을 효과적으로 설득하는가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marL="171450" lvl="0" indent="-84138">
              <a:spcAft>
                <a:spcPts val="200"/>
              </a:spcAft>
              <a:buFontTx/>
              <a:buChar char="-"/>
              <a:defRPr/>
            </a:pP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자신의 의견이 토론에서 실제 반영될 수 있도록 효과적으로 조율했는가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  <a:endParaRPr kumimoji="0" lang="en-US" altLang="ko-KR" sz="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 </a:t>
            </a:r>
            <a:r>
              <a:rPr kumimoji="0" lang="ko-KR" altLang="en-US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 기록 양식 </a:t>
            </a: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예시</a:t>
            </a: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900" b="1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70DD97D-3516-F09A-4D04-BF9E2B4476B0}"/>
              </a:ext>
            </a:extLst>
          </p:cNvPr>
          <p:cNvSpPr/>
          <p:nvPr/>
        </p:nvSpPr>
        <p:spPr>
          <a:xfrm>
            <a:off x="236538" y="2430514"/>
            <a:ext cx="1317456" cy="2199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평가자 가이드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C452B85-16F6-B537-8333-A16B48E599E5}"/>
              </a:ext>
            </a:extLst>
          </p:cNvPr>
          <p:cNvSpPr/>
          <p:nvPr/>
        </p:nvSpPr>
        <p:spPr>
          <a:xfrm>
            <a:off x="5063659" y="2430514"/>
            <a:ext cx="1317456" cy="2199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세부 평가 내용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707818-DC0C-9CF7-69C7-C61380DE84C0}"/>
              </a:ext>
            </a:extLst>
          </p:cNvPr>
          <p:cNvSpPr txBox="1"/>
          <p:nvPr/>
        </p:nvSpPr>
        <p:spPr>
          <a:xfrm>
            <a:off x="236538" y="2673349"/>
            <a:ext cx="4608000" cy="3766219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solidFill>
              <a:schemeClr val="bg1">
                <a:lumMod val="85000"/>
              </a:schemeClr>
            </a:solidFill>
            <a:prstDash val="sysDash"/>
          </a:ln>
          <a:effectLst>
            <a:softEdge rad="0"/>
          </a:effectLst>
        </p:spPr>
        <p:txBody>
          <a:bodyPr wrap="none" rtlCol="0" anchor="ctr" anchorCtr="0">
            <a:noAutofit/>
          </a:bodyPr>
          <a:lstStyle/>
          <a:p>
            <a:pPr lvl="0"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목적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평가의 목적은 리더십 역량을 객관적으로 측정하는 것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결과를 축적하여 참가자의 리더십 역량 개발 및 조직 내 리더십 지수의 지표로 활용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진행 방식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참가자는 ‘답지 자료 작성 후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제반 활동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발표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RP, GD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등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과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질의응답’을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수행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평가자는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참가자의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과제해결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과정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내용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수행 결과 등을 평가 항목별로 관찰 및 기록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항목별 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9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점 척도를 기준으로 점수를 부여하며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점수를 부여한 근거를 간략히 메모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평가자의 역할 및 원칙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객관성 유지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개인적인 선입견을 배제하고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발표 내용과 행동을 기반으로 평가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일관성 확보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기준을 준수하여 평가자 간의 차이를 최소화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marL="171450" lvl="0" indent="-84138">
              <a:spcAft>
                <a:spcPts val="300"/>
              </a:spcAft>
              <a:buFontTx/>
              <a:buChar char="-"/>
              <a:defRPr/>
            </a:pP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행동 기반 평가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참가자의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논리적 사고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전략적 사고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전달력을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중심으로 평가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marL="171450" lvl="0" indent="-84138">
              <a:spcAft>
                <a:spcPts val="300"/>
              </a:spcAft>
              <a:buFontTx/>
              <a:buChar char="-"/>
              <a:defRPr/>
            </a:pP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구체적 피드백 제공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후 참가자가 개선할 수 있도록 간단한 코칭을 진행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marL="171450" lvl="0" indent="-171450">
              <a:spcAft>
                <a:spcPts val="300"/>
              </a:spcAft>
              <a:buFontTx/>
              <a:buChar char="-"/>
              <a:defRPr/>
            </a:pPr>
            <a:endParaRPr lang="en-US" altLang="ko-KR" sz="8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lvl="0">
              <a:lnSpc>
                <a:spcPts val="1300"/>
              </a:lnSpc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이후 피드백 가이드</a:t>
            </a:r>
          </a:p>
          <a:p>
            <a:pPr marL="87313" lvl="0">
              <a:lnSpc>
                <a:spcPts val="1300"/>
              </a:lnSpc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강점 피드백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참가자가 잘한 점을 강조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  <a:b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개선점 피드백 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부족한 부분을 보완할 수 있도록 제안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  <a:b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구체적 제안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참가자가 다음 평가에서 발전할 수 있도록 실천 가능한 방향을 제시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  <a:b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</a:br>
            <a:endParaRPr lang="en-US" altLang="ko-KR" sz="8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7A47474-DD1A-4AB7-4140-14AD29BCC854}"/>
              </a:ext>
            </a:extLst>
          </p:cNvPr>
          <p:cNvCxnSpPr>
            <a:cxnSpLocks/>
          </p:cNvCxnSpPr>
          <p:nvPr/>
        </p:nvCxnSpPr>
        <p:spPr>
          <a:xfrm>
            <a:off x="490905" y="5095175"/>
            <a:ext cx="435363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E669ADC-77A2-176F-DD49-F071B785C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078836"/>
              </p:ext>
            </p:extLst>
          </p:nvPr>
        </p:nvGraphicFramePr>
        <p:xfrm>
          <a:off x="245995" y="696141"/>
          <a:ext cx="9423468" cy="1593973"/>
        </p:xfrm>
        <a:graphic>
          <a:graphicData uri="http://schemas.openxmlformats.org/drawingml/2006/table">
            <a:tbl>
              <a:tblPr/>
              <a:tblGrid>
                <a:gridCol w="1073200">
                  <a:extLst>
                    <a:ext uri="{9D8B030D-6E8A-4147-A177-3AD203B41FA5}">
                      <a16:colId xmlns:a16="http://schemas.microsoft.com/office/drawing/2014/main" val="3486799467"/>
                    </a:ext>
                  </a:extLst>
                </a:gridCol>
                <a:gridCol w="2456505">
                  <a:extLst>
                    <a:ext uri="{9D8B030D-6E8A-4147-A177-3AD203B41FA5}">
                      <a16:colId xmlns:a16="http://schemas.microsoft.com/office/drawing/2014/main" val="1611187767"/>
                    </a:ext>
                  </a:extLst>
                </a:gridCol>
                <a:gridCol w="2023004">
                  <a:extLst>
                    <a:ext uri="{9D8B030D-6E8A-4147-A177-3AD203B41FA5}">
                      <a16:colId xmlns:a16="http://schemas.microsoft.com/office/drawing/2014/main" val="3280163750"/>
                    </a:ext>
                  </a:extLst>
                </a:gridCol>
                <a:gridCol w="1940386">
                  <a:extLst>
                    <a:ext uri="{9D8B030D-6E8A-4147-A177-3AD203B41FA5}">
                      <a16:colId xmlns:a16="http://schemas.microsoft.com/office/drawing/2014/main" val="2709148125"/>
                    </a:ext>
                  </a:extLst>
                </a:gridCol>
                <a:gridCol w="1930373">
                  <a:extLst>
                    <a:ext uri="{9D8B030D-6E8A-4147-A177-3AD203B41FA5}">
                      <a16:colId xmlns:a16="http://schemas.microsoft.com/office/drawing/2014/main" val="2552698058"/>
                    </a:ext>
                  </a:extLst>
                </a:gridCol>
              </a:tblGrid>
              <a:tr h="1929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항목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매우 우수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6~8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 이상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2~5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 미만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미흡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948699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문제 상황 분석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문제의 긴급성과 중요도를 명확히 분석하고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논리적으로 우선순위를 설정함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문제의 우선순위를 설정하였으나 일부 논리적 근거가 부족함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문제의 중요도를 충분히 분석하지 않고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우선순위 설정이 다소 모호함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문제의 핵심을 제대로 파악하지 못하며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우선순위 설정이 부적절함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131861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대안도출 능력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상충된 의견을 조율하고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균형 잡힌 실행 방안을 도출함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상충된 의견을 조율하고 있으나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균형 잡힌 실행 방안을 도출하는 데는 미흡함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상충된 의견을 조율하는 부분이나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균형 잡힌 실행 방안을 도출하는 데는 부족함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상충된 의견을 조율하지 못하고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균형 잡힌 실행 방안을 도출하지 않음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233639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적극 참여</a:t>
                      </a:r>
                      <a:r>
                        <a:rPr lang="en-US" altLang="ko-KR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목표에 기여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적극적으로 토론에 참여하며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결론 도출에 핵심적인 기여를 함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토론에 적극적으로 참여하나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결론 도출에 대한 기여가 일부 부족함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토론 참여가 소극적이며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결론 도출에 미흡한 기여를 함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토론에서 거의 의견을 내지 않으며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결론 도출에 기여하지 않음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026909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존중과 협력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상대의 의견을 경청하며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협력적인 분위기 조성에 적극적으로 기여함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상대 의견을 대체로 존중하나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협력적인 분위기 조성에 일부 부족함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상대 의견을 부분적으로만 존중하며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협력보다는 자기 주장에 집중함</a:t>
                      </a:r>
                      <a:endParaRPr lang="ko-KR" altLang="en-US" sz="75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상대 의견을 무시하거나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비협력적인</a:t>
                      </a: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태도를 보임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004054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설득과 협의 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논리적이고 설득력 있는 의견 개진을 통해 참가자들의 동의를 효과적으로 이끌어냄</a:t>
                      </a:r>
                      <a:r>
                        <a:rPr lang="en-US" altLang="ko-KR" sz="750" kern="0" spc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설득력이 있으며 대체로 합의를 이끌어내나</a:t>
                      </a:r>
                      <a:r>
                        <a:rPr lang="en-US" altLang="ko-KR" sz="750" kern="0" spc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일부 부족한 점이 있음</a:t>
                      </a:r>
                      <a:r>
                        <a:rPr lang="en-US" altLang="ko-KR" sz="750" kern="0" spc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설득력이 부족하고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토론 과정에서 합의를 효과적으로 이끌어내지 못함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자신의 의견을 설득하지 못하며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합의 도출 과정에서 기여도가 낮음</a:t>
                      </a:r>
                      <a:r>
                        <a:rPr lang="en-US" altLang="ko-KR" sz="750" kern="0" spc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1614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80F5E08-CCF0-3869-C141-71531D75DC1D}"/>
              </a:ext>
            </a:extLst>
          </p:cNvPr>
          <p:cNvGraphicFramePr>
            <a:graphicFrameLocks noGrp="1"/>
          </p:cNvGraphicFramePr>
          <p:nvPr/>
        </p:nvGraphicFramePr>
        <p:xfrm>
          <a:off x="5130266" y="5265738"/>
          <a:ext cx="4450850" cy="1006476"/>
        </p:xfrm>
        <a:graphic>
          <a:graphicData uri="http://schemas.openxmlformats.org/drawingml/2006/table">
            <a:tbl>
              <a:tblPr/>
              <a:tblGrid>
                <a:gridCol w="432000">
                  <a:extLst>
                    <a:ext uri="{9D8B030D-6E8A-4147-A177-3AD203B41FA5}">
                      <a16:colId xmlns:a16="http://schemas.microsoft.com/office/drawing/2014/main" val="3599930319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2378731215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3063410884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534315908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1064051607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561740752"/>
                    </a:ext>
                  </a:extLst>
                </a:gridCol>
                <a:gridCol w="278295">
                  <a:extLst>
                    <a:ext uri="{9D8B030D-6E8A-4147-A177-3AD203B41FA5}">
                      <a16:colId xmlns:a16="http://schemas.microsoft.com/office/drawing/2014/main" val="204014748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50929148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참가자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 분석</a:t>
                      </a:r>
                      <a:endParaRPr lang="en-US" altLang="ko-KR" sz="6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논리적 근거</a:t>
                      </a:r>
                      <a:endParaRPr lang="en-US" altLang="ko-KR" sz="6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적극 참여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존중</a:t>
                      </a:r>
                      <a:r>
                        <a:rPr lang="en-US" altLang="ko-KR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협력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설득</a:t>
                      </a:r>
                      <a:r>
                        <a:rPr lang="en-US" altLang="ko-KR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협의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총점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메모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854136"/>
                  </a:ext>
                </a:extLst>
              </a:tr>
              <a:tr h="2274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김부장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적극적으로 참여하며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설득력 있는 변화 계획을 제시함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32349"/>
                  </a:ext>
                </a:extLst>
              </a:tr>
              <a:tr h="2274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이부장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논의에 참여했으나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구체적인 실행 계획이 부족함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84363"/>
                  </a:ext>
                </a:extLst>
              </a:tr>
              <a:tr h="2274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박부장</a:t>
                      </a:r>
                      <a:endParaRPr lang="ko-KR" altLang="en-US" sz="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협력적 태도가 부족하며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실행 가능성이 낮은 대안을 제시함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412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93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27288-815F-BC43-A3E6-66B83CCE0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E34D857-E46A-3898-A391-24B6A4FB0179}"/>
              </a:ext>
            </a:extLst>
          </p:cNvPr>
          <p:cNvSpPr txBox="1"/>
          <p:nvPr/>
        </p:nvSpPr>
        <p:spPr>
          <a:xfrm>
            <a:off x="162279" y="154989"/>
            <a:ext cx="752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2-Ⅰ.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신뢰형성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Kits 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작성 답지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863FCD0-51CA-0870-30C5-00A6ED651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965371"/>
              </p:ext>
            </p:extLst>
          </p:nvPr>
        </p:nvGraphicFramePr>
        <p:xfrm>
          <a:off x="252734" y="847725"/>
          <a:ext cx="9418612" cy="5497416"/>
        </p:xfrm>
        <a:graphic>
          <a:graphicData uri="http://schemas.openxmlformats.org/drawingml/2006/table">
            <a:tbl>
              <a:tblPr/>
              <a:tblGrid>
                <a:gridCol w="1947755">
                  <a:extLst>
                    <a:ext uri="{9D8B030D-6E8A-4147-A177-3AD203B41FA5}">
                      <a16:colId xmlns:a16="http://schemas.microsoft.com/office/drawing/2014/main" val="3279582460"/>
                    </a:ext>
                  </a:extLst>
                </a:gridCol>
                <a:gridCol w="1947755">
                  <a:extLst>
                    <a:ext uri="{9D8B030D-6E8A-4147-A177-3AD203B41FA5}">
                      <a16:colId xmlns:a16="http://schemas.microsoft.com/office/drawing/2014/main" val="3440403336"/>
                    </a:ext>
                  </a:extLst>
                </a:gridCol>
                <a:gridCol w="2150956">
                  <a:extLst>
                    <a:ext uri="{9D8B030D-6E8A-4147-A177-3AD203B41FA5}">
                      <a16:colId xmlns:a16="http://schemas.microsoft.com/office/drawing/2014/main" val="3726294682"/>
                    </a:ext>
                  </a:extLst>
                </a:gridCol>
                <a:gridCol w="3372146">
                  <a:extLst>
                    <a:ext uri="{9D8B030D-6E8A-4147-A177-3AD203B41FA5}">
                      <a16:colId xmlns:a16="http://schemas.microsoft.com/office/drawing/2014/main" val="1307900916"/>
                    </a:ext>
                  </a:extLst>
                </a:gridCol>
              </a:tblGrid>
              <a:tr h="262235">
                <a:tc>
                  <a:txBody>
                    <a:bodyPr/>
                    <a:lstStyle/>
                    <a:p>
                      <a:pPr marL="0" algn="ctr" defTabSz="742950" rtl="0" eaLnBrk="1" latinLnBrk="1" hangingPunct="1"/>
                      <a:r>
                        <a:rPr kumimoji="0" lang="ko-KR" altLang="en-US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각 파트 상황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갈등 이슈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해결 대안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세부 실행 계획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5181">
                <a:tc>
                  <a:txBody>
                    <a:bodyPr/>
                    <a:lstStyle/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ko-KR" altLang="en-US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ko-KR" altLang="en-US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ko-KR" altLang="en-US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317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73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B1BB-B6C3-3723-A6C6-17535E1A7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49433EF-672B-B009-B8BC-5805E63E0470}"/>
              </a:ext>
            </a:extLst>
          </p:cNvPr>
          <p:cNvSpPr txBox="1"/>
          <p:nvPr/>
        </p:nvSpPr>
        <p:spPr>
          <a:xfrm>
            <a:off x="162279" y="154989"/>
            <a:ext cx="752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2-Ⅰ.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합리적의사결정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Kits 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상황 사례 및 측정 항목</a:t>
            </a:r>
          </a:p>
        </p:txBody>
      </p:sp>
      <p:sp>
        <p:nvSpPr>
          <p:cNvPr id="2" name="모서리가 둥근 직사각형 13">
            <a:extLst>
              <a:ext uri="{FF2B5EF4-FFF2-40B4-BE49-F238E27FC236}">
                <a16:creationId xmlns:a16="http://schemas.microsoft.com/office/drawing/2014/main" id="{80E70FF7-C27E-ADBB-F26D-CBF97ADA1405}"/>
              </a:ext>
            </a:extLst>
          </p:cNvPr>
          <p:cNvSpPr/>
          <p:nvPr/>
        </p:nvSpPr>
        <p:spPr>
          <a:xfrm>
            <a:off x="312602" y="806563"/>
            <a:ext cx="9333679" cy="5581357"/>
          </a:xfrm>
          <a:prstGeom prst="roundRect">
            <a:avLst>
              <a:gd name="adj" fmla="val 1646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58A390-FB64-883A-9BE7-F864B77825AE}"/>
              </a:ext>
            </a:extLst>
          </p:cNvPr>
          <p:cNvSpPr txBox="1"/>
          <p:nvPr/>
        </p:nvSpPr>
        <p:spPr>
          <a:xfrm>
            <a:off x="1497779" y="909170"/>
            <a:ext cx="7963793" cy="3311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txBody>
          <a:bodyPr wrap="square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귀하는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OO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 부장으로 근무하고 있습니다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오늘은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시부터 중요한 회의가 있어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8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분쯤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출근하여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먼저 이메일을 체크하였습니다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87313" marR="0" lvl="0" indent="-8731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김과장으로부터 온 메일 내용입니다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부장님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안녕하십니까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김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OO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과장입니다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이렇게 메일로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연락드려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죄송합니다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많은 고민 끝에 퇴직하기로 결정을 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부장님을 평소 존경하여 왔으며 저에게 많은 것을 가르쳐 주신 것에 감사드립니다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 주까지 주변 정리하고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떠나겠습니다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급하게 퇴직의사를 밝혀 진심으로 죄송합니다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.’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87313" marR="0" lvl="0" indent="-8731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총무부서에서 온 메일입니다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부장님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안녕하십니까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지난번 구두로 말씀드렸던 주말 지역행사 파견직원 명단을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시까지 송부 요청 드립니다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주말 행사는 본부장님도 신경을 많이 쓰시는 사항으로 각 부서에서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명씩 지원해야 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차장급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과장급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명으로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 명단 주시면 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행사지원 시간은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09:00~18:00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귀하는 아직까지 구성원들에게 파견 얘기를 꺼내지 못했음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87313" marR="0" lvl="0" indent="-8731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현장관리 담당자인 이차장으로부터 전화가 왔습니다</a:t>
            </a:r>
            <a:r>
              <a:rPr kumimoji="0" lang="en-US" altLang="ko-KR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30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 전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현장 정비 작업 중인 협력 업체의 작업자가 안전 규정을 위반하여 작업 현장에서 위험한 상황이 발생했습니다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다행히 빠른 안전조치로 현장은 안정되었지만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담당 직원들과 협력 업체 간의 신뢰가 흔들렸습니다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이후 조치에 대해 의견을 주십시오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귀하는 위 사례의 담당 부장 역할을 맡아 업무를 처리해야 합니다</a:t>
            </a:r>
            <a:r>
              <a:rPr kumimoji="0" lang="en-US" altLang="ko-KR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107950" marR="0" lvl="0" indent="-1079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김과장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퇴직 건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회의가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10:30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 종료 예정이고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회의 후 지방 출장이 일주일 예정되어 있어 회의 마치고 나오면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김과장과 얘기할 시간이 없어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회의 전에 얘기를 해야 하는 상황</a:t>
            </a:r>
            <a:endParaRPr kumimoji="0" lang="en-US" altLang="ko-KR" sz="1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행사 파견 인원 선정 건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주말에 근무해야 하는 부담이 있고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역시 회의 들어가기 전에 선정 및 통보해야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협력업체 조치 건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현장 안전 유지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협력업체 조치</a:t>
            </a:r>
            <a:endParaRPr kumimoji="0" lang="en-US" altLang="ko-KR" sz="1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40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 동안 실제 진행하는 내용을 글로 작성하여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제공 시트에 답안을 작성하고 제출해야 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우선순위가 높은 순서로 작성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ACF8DD7-368A-DC4C-5D38-4A9495DBED41}"/>
              </a:ext>
            </a:extLst>
          </p:cNvPr>
          <p:cNvSpPr/>
          <p:nvPr/>
        </p:nvSpPr>
        <p:spPr>
          <a:xfrm>
            <a:off x="444428" y="879990"/>
            <a:ext cx="1008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상황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000" b="1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지시문</a:t>
            </a:r>
            <a:endParaRPr kumimoji="0" lang="ko-KR" altLang="en-US" sz="1000" b="1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194D6BA-464C-17DD-F9E0-C847535CB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360987"/>
              </p:ext>
            </p:extLst>
          </p:nvPr>
        </p:nvGraphicFramePr>
        <p:xfrm>
          <a:off x="1497778" y="4308744"/>
          <a:ext cx="7963793" cy="197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18">
                  <a:extLst>
                    <a:ext uri="{9D8B030D-6E8A-4147-A177-3AD203B41FA5}">
                      <a16:colId xmlns:a16="http://schemas.microsoft.com/office/drawing/2014/main" val="2770646335"/>
                    </a:ext>
                  </a:extLst>
                </a:gridCol>
                <a:gridCol w="6376875">
                  <a:extLst>
                    <a:ext uri="{9D8B030D-6E8A-4147-A177-3AD203B41FA5}">
                      <a16:colId xmlns:a16="http://schemas.microsoft.com/office/drawing/2014/main" val="2152111655"/>
                    </a:ext>
                  </a:extLst>
                </a:gridCol>
              </a:tblGrid>
              <a:tr h="215299"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측정 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세부 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835487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88900" marR="0" lvl="0" indent="-8890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문제 상황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사안에 대해 긴급성과 중요성을 적절히 분석했는가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b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의사결정에 필요한 데이터를 충분히 고려하여 우선순위를 설정했는가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900" b="0" kern="1200" spc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824649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의사결정의 논리적 근거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대안의 타당성을 명확히 설명하고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논리적으로 연결 지었는가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b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의사결정 과정에서 데이터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경험적 근거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조직의 규정 등을 활용했는가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421101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이해관계자 의견 수렴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  <a:t>의사결정 과정과 결과를 투명하게 공유하고 있는가</a:t>
                      </a: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  <a:t>? </a:t>
                      </a:r>
                      <a:b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</a:b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  <a:t>- </a:t>
                      </a:r>
                      <a:r>
                        <a:rPr lang="ko-KR" altLang="en-US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  <a:t>이해관계자의 의견을 수렴하여 균형 잡힌 의사결정을 하였는가</a:t>
                      </a:r>
                      <a:r>
                        <a:rPr lang="en-US" altLang="ko-KR" sz="9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맑은 고딕" panose="020B0503020000020004" pitchFamily="50" charset="-127"/>
                        </a:rPr>
                        <a:t>?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388315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리스크 관리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의사 결정의 결과로 발생할 수 있는 위험을 충분히 고려하고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이를 최소화하려는 노력을 했는가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b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의사 결정이 초래할 수 있는 잠재적인 리스크를 예상하고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이를 대비하는 계획을 마련했는가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891914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실행계획의 구체성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대안의 실행 방안을 체계적으로 구성하고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실행 가능성을 높이기 위한 방안을 제시했는가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b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실행 계획이 구체적이고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현실적인가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105419"/>
                  </a:ext>
                </a:extLst>
              </a:tr>
            </a:tbl>
          </a:graphicData>
        </a:graphic>
      </p:graphicFrame>
      <p:sp>
        <p:nvSpPr>
          <p:cNvPr id="4" name="사각형: 둥근 모서리 11">
            <a:extLst>
              <a:ext uri="{FF2B5EF4-FFF2-40B4-BE49-F238E27FC236}">
                <a16:creationId xmlns:a16="http://schemas.microsoft.com/office/drawing/2014/main" id="{A15C56FE-18C2-F8AD-1A7B-6B22D63408A8}"/>
              </a:ext>
            </a:extLst>
          </p:cNvPr>
          <p:cNvSpPr/>
          <p:nvPr/>
        </p:nvSpPr>
        <p:spPr>
          <a:xfrm>
            <a:off x="444428" y="4302868"/>
            <a:ext cx="1008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측정 항목</a:t>
            </a:r>
          </a:p>
        </p:txBody>
      </p:sp>
    </p:spTree>
    <p:extLst>
      <p:ext uri="{BB962C8B-B14F-4D97-AF65-F5344CB8AC3E}">
        <p14:creationId xmlns:p14="http://schemas.microsoft.com/office/powerpoint/2010/main" val="127244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A24C-46E6-99BA-F2F9-E6F6C2313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F6EEA9F-3743-AA95-CC2F-E434C9B7233C}"/>
              </a:ext>
            </a:extLst>
          </p:cNvPr>
          <p:cNvSpPr txBox="1"/>
          <p:nvPr/>
        </p:nvSpPr>
        <p:spPr>
          <a:xfrm>
            <a:off x="162279" y="154989"/>
            <a:ext cx="752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2-Ⅰ.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합리적의사결정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Kits 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측정 </a:t>
            </a:r>
            <a:r>
              <a:rPr kumimoji="0" lang="ko-KR" altLang="en-US" sz="2000" b="1" i="0" u="none" strike="noStrike" kern="1200" cap="none" spc="-10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루브릭</a:t>
            </a:r>
            <a:endParaRPr kumimoji="0" lang="ko-KR" altLang="en-US" sz="2000" b="1" i="0" u="none" strike="noStrike" kern="1200" cap="none" spc="-10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2060"/>
              </a:solidFill>
              <a:effectLst>
                <a:reflection stA="45000" endPos="2000" dist="50800" dir="5400000" sy="-100000" algn="bl" rotWithShape="0"/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C7C27D-4845-0247-E46B-44CC524F749E}"/>
              </a:ext>
            </a:extLst>
          </p:cNvPr>
          <p:cNvSpPr txBox="1"/>
          <p:nvPr/>
        </p:nvSpPr>
        <p:spPr>
          <a:xfrm>
            <a:off x="5061463" y="2699105"/>
            <a:ext cx="4608000" cy="3766219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solidFill>
              <a:schemeClr val="bg1">
                <a:lumMod val="85000"/>
              </a:schemeClr>
            </a:solidFill>
            <a:prstDash val="sysDash"/>
          </a:ln>
          <a:effectLst>
            <a:softEdge rad="0"/>
          </a:effectLst>
        </p:spPr>
        <p:txBody>
          <a:bodyPr wrap="none" rtlCol="0" anchor="t">
            <a:noAutofit/>
          </a:bodyPr>
          <a:lstStyle/>
          <a:p>
            <a:pPr lvl="0">
              <a:spcAft>
                <a:spcPts val="200"/>
              </a:spcAft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 상황 분석 평가</a:t>
            </a:r>
          </a:p>
          <a:p>
            <a:pPr marL="92075" lvl="0" indent="-476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각 사안에 대해 긴급성과 중요성을 적절히 분석했는가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marL="92075" lvl="0" indent="-476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의사결정에 필요한 데이터를 충분히 고려하여 우선순위를 설정했는가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>
              <a:spcAft>
                <a:spcPts val="200"/>
              </a:spcAft>
              <a:defRPr/>
            </a:pP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의사결정의 논리적 근거 평가</a:t>
            </a:r>
          </a:p>
          <a:p>
            <a:pPr lvl="0" indent="8731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각 대안의 타당성을 명확히 설명하고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논리적으로 연결 지었는가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 indent="8731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의사결정 과정에서 데이터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경험적 근거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조직의 규정 등을 활용했는가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>
              <a:spcAft>
                <a:spcPts val="200"/>
              </a:spcAft>
              <a:defRPr/>
            </a:pP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이해관계자 의견 수렴 평가</a:t>
            </a:r>
          </a:p>
          <a:p>
            <a:pPr indent="8731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의사결정 과정과 결과를 투명하게 공유하고 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 </a:t>
            </a:r>
          </a:p>
          <a:p>
            <a:pPr indent="8731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이해관계자의 의견을 수렴하여 균형 잡힌 의사결정을 하였는가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>
              <a:spcAft>
                <a:spcPts val="200"/>
              </a:spcAft>
              <a:defRPr/>
            </a:pP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리스크 관리 평가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의사결정의 결과로 발생할 수 있는 위험을 충분히 고려하고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이를 최소화하려는 노력을 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의사결정이 초래할 수 있는 잠재적인 리스크를 예상하고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이를 대비하는 계획을 마련했는가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>
              <a:spcAft>
                <a:spcPts val="200"/>
              </a:spcAft>
              <a:defRPr/>
            </a:pP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실행계획의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구체성 평가</a:t>
            </a:r>
          </a:p>
          <a:p>
            <a:pPr marL="171450" lvl="0" indent="-84138">
              <a:spcAft>
                <a:spcPts val="200"/>
              </a:spcAft>
              <a:buFontTx/>
              <a:buChar char="-"/>
              <a:defRPr/>
            </a:pP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각 대안의 실행 방안을 체계적으로 구성하고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실행 가능성을 높이기 위한 방안을 제시했는가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marL="171450" lvl="0" indent="-84138">
              <a:spcAft>
                <a:spcPts val="200"/>
              </a:spcAft>
              <a:buFontTx/>
              <a:buChar char="-"/>
              <a:defRPr/>
            </a:pP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실행 계획이 구체적이고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현실적인가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 </a:t>
            </a:r>
            <a:r>
              <a:rPr kumimoji="0" lang="ko-KR" altLang="en-US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 기록 양식 </a:t>
            </a: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예시</a:t>
            </a: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900" b="1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70DD97D-3516-F09A-4D04-BF9E2B4476B0}"/>
              </a:ext>
            </a:extLst>
          </p:cNvPr>
          <p:cNvSpPr/>
          <p:nvPr/>
        </p:nvSpPr>
        <p:spPr>
          <a:xfrm>
            <a:off x="236538" y="2456270"/>
            <a:ext cx="1317456" cy="2199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평가자 가이드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C452B85-16F6-B537-8333-A16B48E599E5}"/>
              </a:ext>
            </a:extLst>
          </p:cNvPr>
          <p:cNvSpPr/>
          <p:nvPr/>
        </p:nvSpPr>
        <p:spPr>
          <a:xfrm>
            <a:off x="5063659" y="2456270"/>
            <a:ext cx="1317456" cy="2199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세부 평가 내용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707818-DC0C-9CF7-69C7-C61380DE84C0}"/>
              </a:ext>
            </a:extLst>
          </p:cNvPr>
          <p:cNvSpPr txBox="1"/>
          <p:nvPr/>
        </p:nvSpPr>
        <p:spPr>
          <a:xfrm>
            <a:off x="236538" y="2699105"/>
            <a:ext cx="4608000" cy="3766219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solidFill>
              <a:schemeClr val="bg1">
                <a:lumMod val="85000"/>
              </a:schemeClr>
            </a:solidFill>
            <a:prstDash val="sysDash"/>
          </a:ln>
          <a:effectLst>
            <a:softEdge rad="0"/>
          </a:effectLst>
        </p:spPr>
        <p:txBody>
          <a:bodyPr wrap="none" rtlCol="0" anchor="ctr" anchorCtr="0">
            <a:noAutofit/>
          </a:bodyPr>
          <a:lstStyle/>
          <a:p>
            <a:pPr lvl="0"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목적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평가의 목적은 리더십 역량을 객관적으로 측정하는 것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결과를 축적하여 참가자의 리더십 역량 개발 및 조직 내 리더십 지수의 지표로 활용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진행 방식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참가자는 ‘답지 자료 작성 후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제반 활동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발표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RP, GD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등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과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질의응답’을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수행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평가자는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참가자의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과제해결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과정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내용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수행 결과 등을 평가 항목별로 관찰 및 기록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항목별 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9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점 척도를 기준으로 점수를 부여하며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점수를 부여한 근거를 간략히 메모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평가자의 역할 및 원칙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객관성 유지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개인적인 선입견을 배제하고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발표 내용과 행동을 기반으로 평가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일관성 확보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기준을 준수하여 평가자 간의 차이를 최소화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행동 기반 평가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참가자의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논리적 사고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전략적 사고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전달력을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중심으로 평가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구체적 피드백 제공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후 참가자가 개선할 수 있도록 간단한 코칭을 진행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>
              <a:lnSpc>
                <a:spcPts val="1300"/>
              </a:lnSpc>
              <a:spcAft>
                <a:spcPts val="300"/>
              </a:spcAft>
              <a:defRPr/>
            </a:pPr>
            <a:endParaRPr lang="en-US" altLang="ko-KR" sz="9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lvl="0">
              <a:lnSpc>
                <a:spcPts val="1300"/>
              </a:lnSpc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이후 피드백 가이드</a:t>
            </a:r>
          </a:p>
          <a:p>
            <a:pPr marL="87313" lvl="0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강점 피드백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참가자가 잘한 점을 강조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marL="87313" lvl="0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개선점 피드백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부족한 부분을 보완할 수 있도록 제안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marL="87313" lvl="0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구체적 제안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참가자가 다음 평가에서 발전할 수 있도록 실천 가능한 방향을 제시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7A47474-DD1A-4AB7-4140-14AD29BCC854}"/>
              </a:ext>
            </a:extLst>
          </p:cNvPr>
          <p:cNvCxnSpPr>
            <a:cxnSpLocks/>
          </p:cNvCxnSpPr>
          <p:nvPr/>
        </p:nvCxnSpPr>
        <p:spPr>
          <a:xfrm>
            <a:off x="427095" y="5231503"/>
            <a:ext cx="435363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E669ADC-77A2-176F-DD49-F071B785C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43782"/>
              </p:ext>
            </p:extLst>
          </p:nvPr>
        </p:nvGraphicFramePr>
        <p:xfrm>
          <a:off x="245995" y="696141"/>
          <a:ext cx="9423468" cy="1607611"/>
        </p:xfrm>
        <a:graphic>
          <a:graphicData uri="http://schemas.openxmlformats.org/drawingml/2006/table">
            <a:tbl>
              <a:tblPr/>
              <a:tblGrid>
                <a:gridCol w="1073200">
                  <a:extLst>
                    <a:ext uri="{9D8B030D-6E8A-4147-A177-3AD203B41FA5}">
                      <a16:colId xmlns:a16="http://schemas.microsoft.com/office/drawing/2014/main" val="3486799467"/>
                    </a:ext>
                  </a:extLst>
                </a:gridCol>
                <a:gridCol w="2299768">
                  <a:extLst>
                    <a:ext uri="{9D8B030D-6E8A-4147-A177-3AD203B41FA5}">
                      <a16:colId xmlns:a16="http://schemas.microsoft.com/office/drawing/2014/main" val="1611187767"/>
                    </a:ext>
                  </a:extLst>
                </a:gridCol>
                <a:gridCol w="2179741">
                  <a:extLst>
                    <a:ext uri="{9D8B030D-6E8A-4147-A177-3AD203B41FA5}">
                      <a16:colId xmlns:a16="http://schemas.microsoft.com/office/drawing/2014/main" val="3280163750"/>
                    </a:ext>
                  </a:extLst>
                </a:gridCol>
                <a:gridCol w="1940386">
                  <a:extLst>
                    <a:ext uri="{9D8B030D-6E8A-4147-A177-3AD203B41FA5}">
                      <a16:colId xmlns:a16="http://schemas.microsoft.com/office/drawing/2014/main" val="2709148125"/>
                    </a:ext>
                  </a:extLst>
                </a:gridCol>
                <a:gridCol w="1930373">
                  <a:extLst>
                    <a:ext uri="{9D8B030D-6E8A-4147-A177-3AD203B41FA5}">
                      <a16:colId xmlns:a16="http://schemas.microsoft.com/office/drawing/2014/main" val="2552698058"/>
                    </a:ext>
                  </a:extLst>
                </a:gridCol>
              </a:tblGrid>
              <a:tr h="1929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항목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매우 우수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6~8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 이상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2~5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 미만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미흡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948699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문제 상황 분석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문제의 긴급성과 중요도를 명확히 분석하고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논리적으로 우선순위를 설정함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문제의 우선순위를 설정하였으나 일부 논리적 근거가 부족함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문제의 중요도를 충분히 분석하지 않고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우선순위 설정이 다소 모호함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문제의 핵심을 제대로 파악하지 못하며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우선순위 설정이 부적절함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131861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의사결정의 </a:t>
                      </a:r>
                      <a:br>
                        <a:rPr lang="en-US" altLang="ko-KR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논리적 근거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대안의 도출 근거와 이유를 명확하고 논리적으로 설명하여 의사결정의 타당성을 확보함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대안 도출 근거를 설명하였으나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일부 논리적 연결이 부족하거나 설득력이 약함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대안의 근거가 불명확하거나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논리적 타당성이 부족함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대안의 근거를 제시하지 않거나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단순한 감각적 판단에 의존함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233639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이해관계자</a:t>
                      </a:r>
                      <a:br>
                        <a:rPr lang="en-US" altLang="ko-KR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의견 수렴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  <a:t>의사결정 과정과 결과를 공유하고</a:t>
                      </a:r>
                      <a:r>
                        <a:rPr lang="en-US" altLang="ko-KR" sz="75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  <a:t>,  </a:t>
                      </a: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이해관계자</a:t>
                      </a:r>
                      <a:endParaRPr lang="en-US" altLang="ko-KR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의견을 수렴하여 균형 잡힌 의사결정을 함 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  <a:t>의사결정 과정과 결과를 공유하나</a:t>
                      </a:r>
                      <a:r>
                        <a:rPr lang="en-US" altLang="ko-KR" sz="75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  <a:t>,  </a:t>
                      </a: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이해관계자 의견을 수렴하는 부분에서는 부족함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  <a:t>의사결정 과정과 결과 공유가 미흡하고</a:t>
                      </a:r>
                      <a:r>
                        <a:rPr lang="en-US" altLang="ko-KR" sz="70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  <a:t>, 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이해관계자 의견을 수렴하는 부분에서 부족함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  <a:t>의사결정 과정과 결과를 공유하지 않고</a:t>
                      </a:r>
                      <a:r>
                        <a:rPr lang="en-US" altLang="ko-KR" sz="75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  <a:t>,  </a:t>
                      </a: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이해관계자 의견을 수렴하지 않음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026909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리스크 관리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리스크를 신속히 분석하고 적절한 대안으로</a:t>
                      </a:r>
                      <a:endParaRPr lang="en-US" altLang="ko-KR" sz="75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수정하며 잠재적 리스크를 대비하여 예방함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일부 리스크를 고려하였으나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대안 수정이 충분하지 않거나 잠재적 리스크를 일부만 대처함</a:t>
                      </a:r>
                    </a:p>
                  </a:txBody>
                  <a:tcPr marL="0" marR="0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리스크 분석이 부족하고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변화하는 상황에 대한 대처가 미흡함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리스크를 전혀 고려하지 않고 </a:t>
                      </a:r>
                      <a:endParaRPr lang="en-US" altLang="ko-KR" sz="7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원래 계획을 강행함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004054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실행 계획의 구체성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 계획을 구체적으로 수립하고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명확한 지침을 제공함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 계획이 존재하나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일부 모호하거나 구체성이 부족함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 계획이 형식적이며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실질적인 실행 가능성이 낮음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7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 계획이 부재하거나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책임이 명확하지 않음</a:t>
                      </a:r>
                      <a:r>
                        <a:rPr lang="en-US" altLang="ko-KR" sz="7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1614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80F5E08-CCF0-3869-C141-71531D75D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950843"/>
              </p:ext>
            </p:extLst>
          </p:nvPr>
        </p:nvGraphicFramePr>
        <p:xfrm>
          <a:off x="5130266" y="5291494"/>
          <a:ext cx="4450850" cy="1006476"/>
        </p:xfrm>
        <a:graphic>
          <a:graphicData uri="http://schemas.openxmlformats.org/drawingml/2006/table">
            <a:tbl>
              <a:tblPr/>
              <a:tblGrid>
                <a:gridCol w="432000">
                  <a:extLst>
                    <a:ext uri="{9D8B030D-6E8A-4147-A177-3AD203B41FA5}">
                      <a16:colId xmlns:a16="http://schemas.microsoft.com/office/drawing/2014/main" val="3599930319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2378731215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3063410884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534315908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1064051607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561740752"/>
                    </a:ext>
                  </a:extLst>
                </a:gridCol>
                <a:gridCol w="278295">
                  <a:extLst>
                    <a:ext uri="{9D8B030D-6E8A-4147-A177-3AD203B41FA5}">
                      <a16:colId xmlns:a16="http://schemas.microsoft.com/office/drawing/2014/main" val="204014748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50929148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참가자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</a:t>
                      </a:r>
                      <a:endParaRPr lang="en-US" altLang="ko-KR" sz="6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논리적 근거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</a:t>
                      </a:r>
                      <a:endParaRPr lang="en-US" altLang="ko-KR" sz="6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수렴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리스크</a:t>
                      </a:r>
                      <a:endParaRPr lang="en-US" altLang="ko-KR" sz="600" b="1" kern="0" spc="0" baseline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baseline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endParaRPr lang="en-US" altLang="ko-KR" sz="6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계획</a:t>
                      </a:r>
                      <a:endParaRPr lang="en-US" altLang="ko-KR" sz="6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구체성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총점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메모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854136"/>
                  </a:ext>
                </a:extLst>
              </a:tr>
              <a:tr h="2274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김부장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논리적이고 실행 가능한 해결책을 제시함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32349"/>
                  </a:ext>
                </a:extLst>
              </a:tr>
              <a:tr h="2274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이부장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대안이 다소 부족하나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조율 능력이 양호함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84363"/>
                  </a:ext>
                </a:extLst>
              </a:tr>
              <a:tr h="2274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박부장</a:t>
                      </a:r>
                      <a:endParaRPr lang="ko-KR" altLang="en-US" sz="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분석과 대안 도출이 부족하고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실행 가능성이 낮음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412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31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4E09-37D1-CFA6-473E-59EFCFBC0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940F41B-5794-95BB-1ED7-9B8812FE720F}"/>
              </a:ext>
            </a:extLst>
          </p:cNvPr>
          <p:cNvSpPr txBox="1"/>
          <p:nvPr/>
        </p:nvSpPr>
        <p:spPr>
          <a:xfrm>
            <a:off x="162279" y="154989"/>
            <a:ext cx="752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2-Ⅰ.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합리적의사결정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Kits 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작성 답지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9C6DDCB-5E0B-9B0C-3197-B8A5C85AD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772217"/>
              </p:ext>
            </p:extLst>
          </p:nvPr>
        </p:nvGraphicFramePr>
        <p:xfrm>
          <a:off x="252734" y="716751"/>
          <a:ext cx="9418615" cy="5715000"/>
        </p:xfrm>
        <a:graphic>
          <a:graphicData uri="http://schemas.openxmlformats.org/drawingml/2006/table">
            <a:tbl>
              <a:tblPr/>
              <a:tblGrid>
                <a:gridCol w="1022274">
                  <a:extLst>
                    <a:ext uri="{9D8B030D-6E8A-4147-A177-3AD203B41FA5}">
                      <a16:colId xmlns:a16="http://schemas.microsoft.com/office/drawing/2014/main" val="3279582460"/>
                    </a:ext>
                  </a:extLst>
                </a:gridCol>
                <a:gridCol w="2450206">
                  <a:extLst>
                    <a:ext uri="{9D8B030D-6E8A-4147-A177-3AD203B41FA5}">
                      <a16:colId xmlns:a16="http://schemas.microsoft.com/office/drawing/2014/main" val="3726294682"/>
                    </a:ext>
                  </a:extLst>
                </a:gridCol>
                <a:gridCol w="2450206">
                  <a:extLst>
                    <a:ext uri="{9D8B030D-6E8A-4147-A177-3AD203B41FA5}">
                      <a16:colId xmlns:a16="http://schemas.microsoft.com/office/drawing/2014/main" val="1292014075"/>
                    </a:ext>
                  </a:extLst>
                </a:gridCol>
                <a:gridCol w="3495929">
                  <a:extLst>
                    <a:ext uri="{9D8B030D-6E8A-4147-A177-3AD203B41FA5}">
                      <a16:colId xmlns:a16="http://schemas.microsoft.com/office/drawing/2014/main" val="1307900916"/>
                    </a:ext>
                  </a:extLst>
                </a:gridCol>
              </a:tblGrid>
              <a:tr h="131400">
                <a:tc>
                  <a:txBody>
                    <a:bodyPr/>
                    <a:lstStyle/>
                    <a:p>
                      <a:pPr marL="0" algn="ctr" defTabSz="742950" rtl="0" eaLnBrk="1" latinLnBrk="1" hangingPunct="1"/>
                      <a:r>
                        <a:rPr kumimoji="0" lang="ko-KR" altLang="en-US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문제</a:t>
                      </a:r>
                      <a:r>
                        <a:rPr kumimoji="0" lang="en-US" altLang="ko-KR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우선순위</a:t>
                      </a:r>
                      <a:r>
                        <a:rPr kumimoji="0" lang="en-US" altLang="ko-KR" sz="100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05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문제점 및 원인 </a:t>
                      </a:r>
                      <a:r>
                        <a:rPr kumimoji="0" lang="en-US" altLang="ko-KR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가설적</a:t>
                      </a:r>
                      <a:r>
                        <a:rPr kumimoji="0" lang="en-US" altLang="ko-KR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050" b="1" kern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해결 방안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세부 실행 계획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1180">
                <a:tc>
                  <a:txBody>
                    <a:bodyPr/>
                    <a:lstStyle/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5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순위</a:t>
                      </a: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4572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ko-KR" altLang="en-US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ko-KR" altLang="en-US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317988"/>
                  </a:ext>
                </a:extLst>
              </a:tr>
              <a:tr h="1821180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순위</a:t>
                      </a:r>
                    </a:p>
                  </a:txBody>
                  <a:tcPr marL="72000" marR="4572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ko-KR" altLang="en-US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ko-KR" altLang="en-US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379825"/>
                  </a:ext>
                </a:extLst>
              </a:tr>
              <a:tr h="1821180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순위</a:t>
                      </a:r>
                    </a:p>
                  </a:txBody>
                  <a:tcPr marL="72000" marR="4572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ko-KR" altLang="en-US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ko-KR" altLang="en-US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106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973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588F1-F656-E63C-EBCA-A51C88D3B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A6DDD06-E9E4-455F-FF1F-22D542A329ED}"/>
              </a:ext>
            </a:extLst>
          </p:cNvPr>
          <p:cNvSpPr txBox="1"/>
          <p:nvPr/>
        </p:nvSpPr>
        <p:spPr>
          <a:xfrm>
            <a:off x="162279" y="154989"/>
            <a:ext cx="752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2-Ⅰ.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구성원육성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Kits 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상황 사례 및 측정 항목</a:t>
            </a:r>
          </a:p>
        </p:txBody>
      </p:sp>
      <p:sp>
        <p:nvSpPr>
          <p:cNvPr id="2" name="모서리가 둥근 직사각형 13">
            <a:extLst>
              <a:ext uri="{FF2B5EF4-FFF2-40B4-BE49-F238E27FC236}">
                <a16:creationId xmlns:a16="http://schemas.microsoft.com/office/drawing/2014/main" id="{642CE784-D39F-C25A-97F9-E62683A82416}"/>
              </a:ext>
            </a:extLst>
          </p:cNvPr>
          <p:cNvSpPr/>
          <p:nvPr/>
        </p:nvSpPr>
        <p:spPr>
          <a:xfrm>
            <a:off x="312602" y="767929"/>
            <a:ext cx="9333679" cy="5684386"/>
          </a:xfrm>
          <a:prstGeom prst="roundRect">
            <a:avLst>
              <a:gd name="adj" fmla="val 1646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3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728DB-F806-3186-EDB2-D7DA9785EBE1}"/>
              </a:ext>
            </a:extLst>
          </p:cNvPr>
          <p:cNvSpPr txBox="1"/>
          <p:nvPr/>
        </p:nvSpPr>
        <p:spPr>
          <a:xfrm>
            <a:off x="1497779" y="844780"/>
            <a:ext cx="7963793" cy="34394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txBody>
          <a:bodyPr wrap="square" rtlCol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어느 시점부터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회의의 비효율성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점점 두드러지고 있다는 것을 인지하게 되었습니다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매주 정기적으로 이루어지는 회의는 최근 들어 참가자들이 점점 더 소극적인 태도를 보였고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중요한 사안에 대해 건설적 의견이나 합리적 대안은 나오지 않은 채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문제점만 반복적으로 논의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되는 경우가 많았습니다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예를 들어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 달 전 진행된 부서 간 협력 방안을 논의하는 회의에서는 결론 없이 비슷한 이야기만 되풀이되었고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1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시간 이상을 무의미하게 허비하는 상황이 벌어졌습니다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더 심각한 문제는 이러한 비효율적 회의 문화가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회의 참가자들의 참여 동기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떨어뜨리고 있다는 점입니다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많은 </a:t>
            </a:r>
            <a:r>
              <a:rPr lang="ko-KR" altLang="en-US" sz="10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원들이 회의 시간이 다가오면 ‘어차피 결론이 나지 않을 것’ 이라는 인식 속에서 수동적으로 임하게 되었고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이는 중요한 안건에 대한 의사결정 지연과 프로젝트 진행 속도 저하로 이어졌습니다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회사 입장에서 볼 때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시간 낭비는 곧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비용 낭비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직결됩니다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매번 반복되는 이러한 문제들은 업무 효율성을 크게 떨어뜨리며 조직 전체의 생산성에도 부정적인 영향을 미치고 있었습니다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상황에서 리더로서 더 이상 시간을 낭비할 수 없다는 위기감이 들었습니다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효율적이고 생산적인 회의 문화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구축해야 했습니다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회의가 단순히 정보 공유에 그치는 것이 아니라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각 부서와 구성원들이 적극적으로 의견을 제시하고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협력을 통해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명확한 결론을 도출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해야 한다는 인식이 필요했습니다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회의 시간을 줄이면서도 안건을 효과적으로 토의할 수 있는 방안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절실했습니다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귀하는 위 사례의 담당 부장 역할을 맡아 </a:t>
            </a: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 후 민차장과 회의를 진행해야 합니다</a:t>
            </a:r>
            <a:r>
              <a:rPr kumimoji="0" lang="en-US" altLang="ko-KR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민차장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뿐 아니라 부서의 차장들을 모두 순서대로 미팅을 통해서 회의문화 개선에 대한 얘기를 나눌 겁니다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단지 회의 얘기만 하는 것을 넘어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차장급에 대한 업무역량 향상도 함께 고려하고 있습니다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 동안 민차장과 면담 진행에 대한 계획을 수립하고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이후 민차장과 실제 면담을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6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분간 진행해야 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민차장과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면담에서 어떤 내용으로 진행할 것인지를 글로 작성하여</a:t>
            </a:r>
            <a:r>
              <a:rPr kumimoji="0" lang="en-US" altLang="ko-KR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답안을 작성하고 제출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해야</a:t>
            </a: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0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745EB89-2CED-E234-5AF8-F661F4537B8C}"/>
              </a:ext>
            </a:extLst>
          </p:cNvPr>
          <p:cNvSpPr/>
          <p:nvPr/>
        </p:nvSpPr>
        <p:spPr>
          <a:xfrm>
            <a:off x="444428" y="828478"/>
            <a:ext cx="1008000" cy="36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상황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 </a:t>
            </a:r>
            <a:r>
              <a:rPr kumimoji="0" lang="ko-KR" altLang="en-US" sz="1000" b="1" i="0" u="none" strike="noStrike" kern="0" cap="none" spc="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지시문</a:t>
            </a:r>
            <a:endParaRPr kumimoji="0" lang="ko-KR" altLang="en-US" sz="1000" b="1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E293677-5670-B55E-0DD7-F37FE9DC4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396172"/>
              </p:ext>
            </p:extLst>
          </p:nvPr>
        </p:nvGraphicFramePr>
        <p:xfrm>
          <a:off x="1497778" y="4334496"/>
          <a:ext cx="7963793" cy="197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918">
                  <a:extLst>
                    <a:ext uri="{9D8B030D-6E8A-4147-A177-3AD203B41FA5}">
                      <a16:colId xmlns:a16="http://schemas.microsoft.com/office/drawing/2014/main" val="2770646335"/>
                    </a:ext>
                  </a:extLst>
                </a:gridCol>
                <a:gridCol w="6376875">
                  <a:extLst>
                    <a:ext uri="{9D8B030D-6E8A-4147-A177-3AD203B41FA5}">
                      <a16:colId xmlns:a16="http://schemas.microsoft.com/office/drawing/2014/main" val="2152111655"/>
                    </a:ext>
                  </a:extLst>
                </a:gridCol>
              </a:tblGrid>
              <a:tr h="215299"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측정 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세부 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835487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88900" marR="0" lvl="0" indent="-8890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문제 인식 및 상황 설명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</a:rPr>
                        <a:t>회의 비효율성 문제를 명확히 인식하고 차장에게 설명했는가</a:t>
                      </a: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</a:rPr>
                        <a:t>?</a:t>
                      </a:r>
                      <a:b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</a:rPr>
                      </a:b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</a:rPr>
                        <a:t>-</a:t>
                      </a:r>
                      <a:r>
                        <a:rPr lang="en-US" altLang="ko-KR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문제 정의 과정에서 객관적인 데이터나 사례를 활용하여 논리적으로 설명했는가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?</a:t>
                      </a:r>
                      <a:r>
                        <a:rPr lang="ko-KR" altLang="en-US" sz="9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latin typeface="+mn-ea"/>
                        </a:rPr>
                        <a:t> </a:t>
                      </a:r>
                      <a:endParaRPr lang="ko-KR" altLang="en-US" sz="900" b="0" kern="1200" spc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824649"/>
                  </a:ext>
                </a:extLst>
              </a:tr>
              <a:tr h="321346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개선 계획의 구체성</a:t>
                      </a:r>
                      <a:endParaRPr lang="ko-KR" altLang="en-US" sz="900" b="1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회의문화</a:t>
                      </a:r>
                      <a:r>
                        <a:rPr lang="ko-KR" altLang="en-US" sz="9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변화를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위한 구체적인 실행계획을 수립하고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역할 분담을 명확히 하는가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?</a:t>
                      </a:r>
                      <a:br>
                        <a:rPr kumimoji="0" lang="en-US" altLang="ko-KR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변화 활동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일정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등에 대해 구체적으로 표현되었는가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421101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발전적 피드백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피드백을 구체적인 사례를 통해 전달하고</a:t>
                      </a: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명확한 개선 포인트를 제시했는가</a:t>
                      </a: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?</a:t>
                      </a:r>
                      <a:b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단순한 지적이 아닌</a:t>
                      </a: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문제의 원인을 분석하여 효과적인 개선책을 제시했는가</a:t>
                      </a: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?</a:t>
                      </a:r>
                      <a:r>
                        <a:rPr lang="ko-KR" altLang="en-US" sz="900" b="0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388315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허용 분위기 조성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면담을 시작할 때 편안한 분위기를 조성하고</a:t>
                      </a: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면담의 목적을 명확하게 설명했는가</a:t>
                      </a: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?</a:t>
                      </a:r>
                      <a:b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민차장이 방어적인 태도를 보이지 않고</a:t>
                      </a: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적극적으로 참여하도록 유도했는가</a:t>
                      </a: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?</a:t>
                      </a:r>
                      <a:endParaRPr kumimoji="0" lang="en-US" altLang="ko-KR" sz="900" b="0" i="0" u="none" strike="noStrike" kern="0" cap="none" spc="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891914"/>
                  </a:ext>
                </a:extLst>
              </a:tr>
              <a:tr h="305784"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900" b="1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함께 대안 모색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회의 문화의 문제에 대한 해결방안을 함께 모색하였으며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실행 계획을 도출했는가</a:t>
                      </a: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  <a:b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민차장</a:t>
                      </a:r>
                      <a:r>
                        <a:rPr lang="ko-KR" altLang="en-US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과 함께 현실적인 해결책을 논의하고</a:t>
                      </a: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실천 방안을 도출했는가</a:t>
                      </a:r>
                      <a:r>
                        <a:rPr lang="en-US" altLang="ko-KR" sz="900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</a:rPr>
                        <a:t>?</a:t>
                      </a:r>
                      <a:endParaRPr lang="ko-KR" altLang="en-US" sz="90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105419"/>
                  </a:ext>
                </a:extLst>
              </a:tr>
            </a:tbl>
          </a:graphicData>
        </a:graphic>
      </p:graphicFrame>
      <p:sp>
        <p:nvSpPr>
          <p:cNvPr id="4" name="사각형: 둥근 모서리 11">
            <a:extLst>
              <a:ext uri="{FF2B5EF4-FFF2-40B4-BE49-F238E27FC236}">
                <a16:creationId xmlns:a16="http://schemas.microsoft.com/office/drawing/2014/main" id="{3ADA3082-2D48-0FB2-B62D-2E1908D5B88E}"/>
              </a:ext>
            </a:extLst>
          </p:cNvPr>
          <p:cNvSpPr/>
          <p:nvPr/>
        </p:nvSpPr>
        <p:spPr>
          <a:xfrm>
            <a:off x="444428" y="4328620"/>
            <a:ext cx="1008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측정 항목</a:t>
            </a:r>
          </a:p>
        </p:txBody>
      </p:sp>
    </p:spTree>
    <p:extLst>
      <p:ext uri="{BB962C8B-B14F-4D97-AF65-F5344CB8AC3E}">
        <p14:creationId xmlns:p14="http://schemas.microsoft.com/office/powerpoint/2010/main" val="215913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A24C-46E6-99BA-F2F9-E6F6C2313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F6EEA9F-3743-AA95-CC2F-E434C9B7233C}"/>
              </a:ext>
            </a:extLst>
          </p:cNvPr>
          <p:cNvSpPr txBox="1"/>
          <p:nvPr/>
        </p:nvSpPr>
        <p:spPr>
          <a:xfrm>
            <a:off x="162279" y="154989"/>
            <a:ext cx="752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2-Ⅰ.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lang="ko-KR" altLang="en-US" sz="2000" b="1" spc="-10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구성원육성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Kits 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측정 </a:t>
            </a:r>
            <a:r>
              <a:rPr kumimoji="0" lang="ko-KR" altLang="en-US" sz="2000" b="1" i="0" u="none" strike="noStrike" kern="1200" cap="none" spc="-10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루브릭</a:t>
            </a:r>
            <a:endParaRPr kumimoji="0" lang="ko-KR" altLang="en-US" sz="2000" b="1" i="0" u="none" strike="noStrike" kern="1200" cap="none" spc="-10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2060"/>
              </a:solidFill>
              <a:effectLst>
                <a:reflection stA="45000" endPos="2000" dist="50800" dir="5400000" sy="-100000" algn="bl" rotWithShape="0"/>
              </a:effectLst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C7C27D-4845-0247-E46B-44CC524F749E}"/>
              </a:ext>
            </a:extLst>
          </p:cNvPr>
          <p:cNvSpPr txBox="1"/>
          <p:nvPr/>
        </p:nvSpPr>
        <p:spPr>
          <a:xfrm>
            <a:off x="5061463" y="2673349"/>
            <a:ext cx="4608000" cy="3766219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solidFill>
              <a:schemeClr val="bg1">
                <a:lumMod val="85000"/>
              </a:schemeClr>
            </a:solidFill>
            <a:prstDash val="sysDash"/>
          </a:ln>
          <a:effectLst>
            <a:softEdge rad="0"/>
          </a:effectLst>
        </p:spPr>
        <p:txBody>
          <a:bodyPr wrap="none" rtlCol="0" anchor="t">
            <a:noAutofit/>
          </a:bodyPr>
          <a:lstStyle/>
          <a:p>
            <a:pPr>
              <a:spcAft>
                <a:spcPts val="200"/>
              </a:spcAft>
              <a:defRPr/>
            </a:pP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 인식 및 상황 설명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</a:p>
          <a:p>
            <a:pPr marL="92075" lvl="0" indent="-476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회의 비효율성 문제를 명확히 인식하고 차장에게 설명했는가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  <a:b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</a:b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문제 정의 과정에서 객관적인 데이터나 사례를 활용하여 논리적으로 설명했는가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>
              <a:spcAft>
                <a:spcPts val="200"/>
              </a:spcAft>
              <a:defRPr/>
            </a:pP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 계획의 구체성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</a:p>
          <a:p>
            <a:pPr lvl="0" indent="8731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회의문화 변화를 위한 구체적인 실행계획을 수립하고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 역할 분담을 명확히 하는가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 indent="87313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변화 활동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일정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등에 대해 구체적으로 표현되었는가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>
              <a:spcAft>
                <a:spcPts val="200"/>
              </a:spcAft>
              <a:defRPr/>
            </a:pP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발전적 피드백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피드백을 구체적인 사례를 통해 전달하고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명확한 개선 포인트를 제시했는가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단순한 지적이 아닌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문제의 원인을 분석하여 효과적인 개선책을 제시했는가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>
              <a:spcAft>
                <a:spcPts val="200"/>
              </a:spcAft>
              <a:defRPr/>
            </a:pP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허용 분위기 조성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면담을 시작할 때 편안한 분위기를 조성하고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면담의 목적을 명확하게 설명했는가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lvl="0" indent="92075">
              <a:spcAft>
                <a:spcPts val="200"/>
              </a:spcAft>
              <a:defRPr/>
            </a:pP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- </a:t>
            </a:r>
            <a:r>
              <a:rPr lang="ko-KR" altLang="en-US" sz="800" kern="0" spc="-11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민차장이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 방어적인 태도를 보이지 않고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적극적으로 참여하도록 유도했는가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>
              <a:spcAft>
                <a:spcPts val="200"/>
              </a:spcAft>
              <a:defRPr/>
            </a:pPr>
            <a:r>
              <a:rPr lang="en-US" altLang="ko-KR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함께 대안 모색</a:t>
            </a: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</a:t>
            </a:r>
          </a:p>
          <a:p>
            <a:pPr marL="171450" lvl="0" indent="-84138">
              <a:spcAft>
                <a:spcPts val="200"/>
              </a:spcAft>
              <a:buFontTx/>
              <a:buChar char="-"/>
              <a:defRPr/>
            </a:pP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회의 문화의 수행 문제에 대한 해결방안을 함께 모색하였으며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실행 계획을 도출했는가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</a:p>
          <a:p>
            <a:pPr marL="171450" lvl="0" indent="-84138">
              <a:spcAft>
                <a:spcPts val="200"/>
              </a:spcAft>
              <a:buFontTx/>
              <a:buChar char="-"/>
              <a:defRPr/>
            </a:pPr>
            <a:r>
              <a:rPr lang="ko-KR" altLang="en-US" sz="800" kern="0" spc="-11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민차장과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 함께 현실적인 해결책을 논의하고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, </a:t>
            </a:r>
            <a:r>
              <a:rPr lang="ko-KR" altLang="en-US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실천 방안을 도출했는가</a:t>
            </a:r>
            <a:r>
              <a:rPr lang="en-US" altLang="ko-KR" sz="800" kern="0" spc="-110" dirty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?</a:t>
            </a:r>
            <a:endParaRPr kumimoji="0" lang="en-US" altLang="ko-KR" sz="8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• </a:t>
            </a:r>
            <a:r>
              <a:rPr kumimoji="0" lang="ko-KR" altLang="en-US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 기록 양식 </a:t>
            </a: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예시</a:t>
            </a:r>
            <a:r>
              <a:rPr kumimoji="0" lang="en-US" altLang="ko-KR" sz="9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900" b="1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70DD97D-3516-F09A-4D04-BF9E2B4476B0}"/>
              </a:ext>
            </a:extLst>
          </p:cNvPr>
          <p:cNvSpPr/>
          <p:nvPr/>
        </p:nvSpPr>
        <p:spPr>
          <a:xfrm>
            <a:off x="236538" y="2430514"/>
            <a:ext cx="1317456" cy="2199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평가자 가이드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C452B85-16F6-B537-8333-A16B48E599E5}"/>
              </a:ext>
            </a:extLst>
          </p:cNvPr>
          <p:cNvSpPr/>
          <p:nvPr/>
        </p:nvSpPr>
        <p:spPr>
          <a:xfrm>
            <a:off x="5063659" y="2430514"/>
            <a:ext cx="1317456" cy="2199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세부 평가 내용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707818-DC0C-9CF7-69C7-C61380DE84C0}"/>
              </a:ext>
            </a:extLst>
          </p:cNvPr>
          <p:cNvSpPr txBox="1"/>
          <p:nvPr/>
        </p:nvSpPr>
        <p:spPr>
          <a:xfrm>
            <a:off x="236538" y="2673349"/>
            <a:ext cx="4608000" cy="3766219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solidFill>
              <a:schemeClr val="bg1">
                <a:lumMod val="85000"/>
              </a:schemeClr>
            </a:solidFill>
            <a:prstDash val="sysDash"/>
          </a:ln>
          <a:effectLst>
            <a:softEdge rad="0"/>
          </a:effectLst>
        </p:spPr>
        <p:txBody>
          <a:bodyPr wrap="none" rtlCol="0" anchor="ctr" anchorCtr="0">
            <a:noAutofit/>
          </a:bodyPr>
          <a:lstStyle/>
          <a:p>
            <a:pPr lvl="0"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목적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평가의 목적은 리더십 역량을 객관적으로 측정하는 것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결과를 축적하여 참가자의 리더십 역량 개발 및 조직 내 리더십 지수의 지표로 활용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진행 방식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참가자는 ‘답지 자료 작성 후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제반 활동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발표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RP, GD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등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과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질의응답’을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수행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평가자는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참가자의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과제해결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과정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내용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수행 결과 등을 평가 항목별로 관찰 및 기록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항목별 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9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점 척도를 기준으로 점수를 부여하며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점수를 부여한 근거를 간략히 메모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평가자의 역할 및 원칙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객관성 유지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개인적인 선입견을 배제하고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발표 내용과 행동을 기반으로 평가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일관성 확보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기준을 준수하여 평가자 간의 차이를 최소화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lvl="0" indent="87313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행동 기반 평가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참가자의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논리적 사고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전략적 사고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전달력을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중심으로 평가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marL="92075" lvl="0">
              <a:spcAft>
                <a:spcPts val="300"/>
              </a:spcAft>
              <a:defRPr/>
            </a:pP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구체적 피드백 제공</a:t>
            </a:r>
            <a:r>
              <a:rPr lang="en-US" altLang="ko-KR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후 참가자가 개선할 수 있도록 간단한 코칭을 진행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</a:p>
          <a:p>
            <a:pPr marL="171450" lvl="0" indent="-171450">
              <a:spcAft>
                <a:spcPts val="300"/>
              </a:spcAft>
              <a:buFontTx/>
              <a:buChar char="-"/>
              <a:defRPr/>
            </a:pPr>
            <a:endParaRPr lang="en-US" altLang="ko-KR" sz="800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lvl="0">
              <a:spcAft>
                <a:spcPts val="300"/>
              </a:spcAft>
              <a:defRPr/>
            </a:pPr>
            <a:r>
              <a:rPr lang="en-US" altLang="ko-KR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9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평가 이후 피드백 가이드</a:t>
            </a:r>
          </a:p>
          <a:p>
            <a:pPr marL="92075" lvl="0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강점 피드백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참가자가 잘한 점을 강조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  <a:b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예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) "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회의 비효율성을 명확하게 분석하고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피드백을 구체적으로 전달한 점이 인상적이었습니다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." </a:t>
            </a:r>
          </a:p>
          <a:p>
            <a:pPr marL="92075" lvl="0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개선점 피드백 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부족한 부분을 개선할 수 있도록 제안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  <a:b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예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) "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실행 계획을 좀 더 구체적으로 수립하고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각 구성원의 역할을 명확히 하면 더욱 효과적일</a:t>
            </a:r>
            <a:b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    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  것입니다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."</a:t>
            </a:r>
          </a:p>
          <a:p>
            <a:pPr marL="92075" lvl="0">
              <a:spcAft>
                <a:spcPts val="300"/>
              </a:spcAft>
              <a:defRPr/>
            </a:pP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8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구체적 제안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참가자가 다음 평가에서 발전할 수 있도록 실천 가능한 방향을 제시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</a:t>
            </a:r>
            <a:b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예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) "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회의 개선을 위한 역할 분담과 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KPI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를 설정하여 개선 효과를 명확하게 측정해보는 것도</a:t>
            </a:r>
            <a:b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       </a:t>
            </a:r>
            <a:r>
              <a:rPr lang="ko-KR" altLang="en-US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좋겠습니다</a:t>
            </a:r>
            <a:r>
              <a:rPr lang="en-US" altLang="ko-KR" sz="800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."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7A47474-DD1A-4AB7-4140-14AD29BCC854}"/>
              </a:ext>
            </a:extLst>
          </p:cNvPr>
          <p:cNvCxnSpPr>
            <a:cxnSpLocks/>
          </p:cNvCxnSpPr>
          <p:nvPr/>
        </p:nvCxnSpPr>
        <p:spPr>
          <a:xfrm>
            <a:off x="415925" y="4901664"/>
            <a:ext cx="435363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E669ADC-77A2-176F-DD49-F071B785C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287610"/>
              </p:ext>
            </p:extLst>
          </p:nvPr>
        </p:nvGraphicFramePr>
        <p:xfrm>
          <a:off x="245995" y="696141"/>
          <a:ext cx="9423468" cy="1593973"/>
        </p:xfrm>
        <a:graphic>
          <a:graphicData uri="http://schemas.openxmlformats.org/drawingml/2006/table">
            <a:tbl>
              <a:tblPr/>
              <a:tblGrid>
                <a:gridCol w="1073200">
                  <a:extLst>
                    <a:ext uri="{9D8B030D-6E8A-4147-A177-3AD203B41FA5}">
                      <a16:colId xmlns:a16="http://schemas.microsoft.com/office/drawing/2014/main" val="3486799467"/>
                    </a:ext>
                  </a:extLst>
                </a:gridCol>
                <a:gridCol w="2456505">
                  <a:extLst>
                    <a:ext uri="{9D8B030D-6E8A-4147-A177-3AD203B41FA5}">
                      <a16:colId xmlns:a16="http://schemas.microsoft.com/office/drawing/2014/main" val="1611187767"/>
                    </a:ext>
                  </a:extLst>
                </a:gridCol>
                <a:gridCol w="2023004">
                  <a:extLst>
                    <a:ext uri="{9D8B030D-6E8A-4147-A177-3AD203B41FA5}">
                      <a16:colId xmlns:a16="http://schemas.microsoft.com/office/drawing/2014/main" val="3280163750"/>
                    </a:ext>
                  </a:extLst>
                </a:gridCol>
                <a:gridCol w="1940386">
                  <a:extLst>
                    <a:ext uri="{9D8B030D-6E8A-4147-A177-3AD203B41FA5}">
                      <a16:colId xmlns:a16="http://schemas.microsoft.com/office/drawing/2014/main" val="2709148125"/>
                    </a:ext>
                  </a:extLst>
                </a:gridCol>
                <a:gridCol w="1930373">
                  <a:extLst>
                    <a:ext uri="{9D8B030D-6E8A-4147-A177-3AD203B41FA5}">
                      <a16:colId xmlns:a16="http://schemas.microsoft.com/office/drawing/2014/main" val="2552698058"/>
                    </a:ext>
                  </a:extLst>
                </a:gridCol>
              </a:tblGrid>
              <a:tr h="1929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항목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매우 우수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6~8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 이상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2~5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보통 미만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미흡</a:t>
                      </a:r>
                      <a:r>
                        <a:rPr lang="en-US" altLang="ko-KR" sz="9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948699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문제 인식 및 상황 설명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회의 비효율성 문제를 명확히 정의하고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구체적인 사례를 들어 논리적으로 설명함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문제를 대체로 설명했으나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일부 구체성이 부족하거나 논리적 연결이 약함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문제를 부분적으로 인식했으나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설명이 모호하고 구체적인 사례가 부족함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문제 정의가 불명확하며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원인 분석 없이 단순 지적 수준에 </a:t>
                      </a:r>
                      <a:r>
                        <a:rPr lang="ko-KR" altLang="en-US" sz="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머뭄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131861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개선 계획의 구체성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latin typeface="+mn-ea"/>
                        </a:rPr>
                        <a:t>회의문화 변화를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위한 구체적인 개선계획을 수립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역할 분담 및 일정까지 명확하게 설정함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 계획이 대체로 적절하지만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일부 세부 실행 방안이 부족함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 계획이 모호하거나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역할 분담이 명확하지 않아 실질적인 실행이 어려움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 계획이 불명확하며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개선이 지속적으로 이루어질 가능성</a:t>
                      </a:r>
                      <a:r>
                        <a:rPr lang="ko-KR" altLang="en-US" sz="80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 </a:t>
                      </a: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낮음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233639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발전적 피드백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노하우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 기회 제공 등 피드백 을 제공하여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구성원이 성장 방향을 인식함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피드백을 제공하였으나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다소 추상적이거나 실질적인 도움이 부족함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피드백이 단순히 지적에 그치며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구성원의 성장 방향을 구체적으로 제시하지 않음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피드백 없이 지시만 하거나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부정적인 언급이 많아 구성원의 의욕을 저하시킴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026909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허용 분위기 조성</a:t>
                      </a:r>
                      <a:endParaRPr lang="en-US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편안한 분위기를 조성하고 면담 이유를 설명하여 구성원의 적극적 참여를 유도함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면담 목적을 설명하였으나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구성원이 부담감이나 소극적인 태도를 보임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면담의 목적 설명이 부족하여 구성원이 의도를 명확히 이해하지 못함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면담 분위기가 경직되었으며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불편함을 느껴 적극적으로 대화하지 않음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004054"/>
                  </a:ext>
                </a:extLst>
              </a:tr>
              <a:tr h="277480">
                <a:tc>
                  <a:txBody>
                    <a:bodyPr/>
                    <a:lstStyle/>
                    <a:p>
                      <a:pPr marL="0" marR="0" lvl="0" indent="0" algn="ctr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함께</a:t>
                      </a:r>
                      <a:r>
                        <a:rPr lang="en-US" altLang="ko-KR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50" b="1" kern="0" spc="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대안 모색</a:t>
                      </a:r>
                      <a:endParaRPr lang="en-US" altLang="ko-KR" sz="850" b="1" kern="0" spc="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57941" marR="57941" marT="16019" marB="1601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구성원과 함께 회의문화 개선 해결책을 논의하며 현실적이고 실천 가능한 대안을 도출함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회의문화 개선에 대안을 제시하였으나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구성원의 적극적인 의견 반영이 부족함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회의문화 개선에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대안을 구체적으로 도출 하지 못하고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구성원의 참여를 유도하지 않음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회의문화 개선에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대안을 모색하지 않거나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일방적인 지시만 내림</a:t>
                      </a:r>
                      <a:r>
                        <a:rPr lang="en-US" altLang="ko-KR" sz="7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7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1614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80F5E08-CCF0-3869-C141-71531D75D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858107"/>
              </p:ext>
            </p:extLst>
          </p:nvPr>
        </p:nvGraphicFramePr>
        <p:xfrm>
          <a:off x="5130266" y="5254199"/>
          <a:ext cx="4450850" cy="1028843"/>
        </p:xfrm>
        <a:graphic>
          <a:graphicData uri="http://schemas.openxmlformats.org/drawingml/2006/table">
            <a:tbl>
              <a:tblPr/>
              <a:tblGrid>
                <a:gridCol w="432000">
                  <a:extLst>
                    <a:ext uri="{9D8B030D-6E8A-4147-A177-3AD203B41FA5}">
                      <a16:colId xmlns:a16="http://schemas.microsoft.com/office/drawing/2014/main" val="3599930319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2378731215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3063410884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534315908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1064051607"/>
                    </a:ext>
                  </a:extLst>
                </a:gridCol>
                <a:gridCol w="373711">
                  <a:extLst>
                    <a:ext uri="{9D8B030D-6E8A-4147-A177-3AD203B41FA5}">
                      <a16:colId xmlns:a16="http://schemas.microsoft.com/office/drawing/2014/main" val="561740752"/>
                    </a:ext>
                  </a:extLst>
                </a:gridCol>
                <a:gridCol w="278295">
                  <a:extLst>
                    <a:ext uri="{9D8B030D-6E8A-4147-A177-3AD203B41FA5}">
                      <a16:colId xmlns:a16="http://schemas.microsoft.com/office/drawing/2014/main" val="204014748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50929148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참가자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</a:t>
                      </a:r>
                      <a:endParaRPr lang="en-US" altLang="ko-KR" sz="6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인식</a:t>
                      </a:r>
                      <a:r>
                        <a:rPr lang="en-US" altLang="ko-KR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계획의</a:t>
                      </a:r>
                      <a:endParaRPr lang="en-US" altLang="ko-KR" sz="6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구체성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발전적</a:t>
                      </a:r>
                      <a:endParaRPr lang="en-US" altLang="ko-KR" sz="6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피드백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허용</a:t>
                      </a:r>
                      <a:endParaRPr lang="en-US" altLang="ko-KR" sz="6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분위기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대안</a:t>
                      </a:r>
                      <a:endParaRPr lang="en-US" altLang="ko-KR" sz="600" b="1" kern="0" spc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모색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총점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메모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854136"/>
                  </a:ext>
                </a:extLst>
              </a:tr>
              <a:tr h="2274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김부장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회의 비효율성 문제를 명확히 분석하고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실행 가능한 개선안을 제시함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32349"/>
                  </a:ext>
                </a:extLst>
              </a:tr>
              <a:tr h="2274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이부장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개선 방향과 실행 계획이 적절하나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일부 구체성이 부족함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84363"/>
                  </a:ext>
                </a:extLst>
              </a:tr>
              <a:tr h="2274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박부장</a:t>
                      </a:r>
                      <a:endParaRPr lang="ko-KR" altLang="en-US" sz="6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문제 분석이 부족하고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실행 가능한 대안을 제시하지 못함</a:t>
                      </a:r>
                      <a:r>
                        <a:rPr lang="en-US" altLang="ko-KR" sz="6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</a:txBody>
                  <a:tcPr marL="50598" marR="50598" marT="13989" marB="1398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412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4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27157-5F32-0950-7155-FD097904E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3267BB4-1325-3FEA-78E2-F3621E485297}"/>
              </a:ext>
            </a:extLst>
          </p:cNvPr>
          <p:cNvSpPr txBox="1"/>
          <p:nvPr/>
        </p:nvSpPr>
        <p:spPr>
          <a:xfrm>
            <a:off x="162279" y="154989"/>
            <a:ext cx="752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ko-KR" sz="2000" b="1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latin typeface="맑은 고딕" panose="020B0503020000020004" pitchFamily="50" charset="-127"/>
              </a:rPr>
              <a:t>2-Ⅰ.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구성원육성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000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Kits 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/>
                </a:solidFill>
                <a:effectLst>
                  <a:reflection stA="45000" endPos="2000" dist="50800" dir="5400000" sy="-100000" algn="bl" rotWithShape="0"/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작성 답지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557126-2B87-F8EB-A2CF-3C56F51A8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479707"/>
              </p:ext>
            </p:extLst>
          </p:nvPr>
        </p:nvGraphicFramePr>
        <p:xfrm>
          <a:off x="272233" y="715107"/>
          <a:ext cx="9320637" cy="5612050"/>
        </p:xfrm>
        <a:graphic>
          <a:graphicData uri="http://schemas.openxmlformats.org/drawingml/2006/table">
            <a:tbl>
              <a:tblPr/>
              <a:tblGrid>
                <a:gridCol w="3106879">
                  <a:extLst>
                    <a:ext uri="{9D8B030D-6E8A-4147-A177-3AD203B41FA5}">
                      <a16:colId xmlns:a16="http://schemas.microsoft.com/office/drawing/2014/main" val="3279582460"/>
                    </a:ext>
                  </a:extLst>
                </a:gridCol>
                <a:gridCol w="3918333">
                  <a:extLst>
                    <a:ext uri="{9D8B030D-6E8A-4147-A177-3AD203B41FA5}">
                      <a16:colId xmlns:a16="http://schemas.microsoft.com/office/drawing/2014/main" val="1307900916"/>
                    </a:ext>
                  </a:extLst>
                </a:gridCol>
                <a:gridCol w="2295425">
                  <a:extLst>
                    <a:ext uri="{9D8B030D-6E8A-4147-A177-3AD203B41FA5}">
                      <a16:colId xmlns:a16="http://schemas.microsoft.com/office/drawing/2014/main" val="3080004761"/>
                    </a:ext>
                  </a:extLst>
                </a:gridCol>
              </a:tblGrid>
              <a:tr h="256457">
                <a:tc>
                  <a:txBody>
                    <a:bodyPr/>
                    <a:lstStyle/>
                    <a:p>
                      <a:pPr marL="0" algn="ctr" defTabSz="742950" rtl="0" eaLnBrk="1" latinLnBrk="1" hangingPunct="1"/>
                      <a:r>
                        <a:rPr kumimoji="0" lang="ko-KR" altLang="en-US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회의 이슈</a:t>
                      </a:r>
                      <a:r>
                        <a:rPr kumimoji="0" lang="en-US" altLang="ko-KR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문제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해결 대안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1" kern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민차장의 적극 참여 유도 방안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593">
                <a:tc>
                  <a:txBody>
                    <a:bodyPr/>
                    <a:lstStyle/>
                    <a:p>
                      <a:pPr marL="0" marR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ko-KR" altLang="en-US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45720">
                    <a:lnL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50" b="0" kern="0" spc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317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41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DE14B8-079E-6671-E54A-06CB9633D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12669-70BD-43FC-B9B4-3610C2AA606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0236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다올의 비전 및 중장기 발전 전략 수립">
  <a:themeElements>
    <a:clrScheme name="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365AA8"/>
      </a:accent1>
      <a:accent2>
        <a:srgbClr val="EAEBE7"/>
      </a:accent2>
      <a:accent3>
        <a:srgbClr val="FFFFFF"/>
      </a:accent3>
      <a:accent4>
        <a:srgbClr val="000000"/>
      </a:accent4>
      <a:accent5>
        <a:srgbClr val="AEB5D1"/>
      </a:accent5>
      <a:accent6>
        <a:srgbClr val="D4D5D1"/>
      </a:accent6>
      <a:hlink>
        <a:srgbClr val="D1D7C7"/>
      </a:hlink>
      <a:folHlink>
        <a:srgbClr val="99CC00"/>
      </a:folHlink>
    </a:clrScheme>
    <a:fontScheme name="다올의 비전 및 중장기 발전 전략 수립">
      <a:majorFont>
        <a:latin typeface="Arial"/>
        <a:ea typeface="HY견고딕"/>
        <a:cs typeface=""/>
      </a:majorFont>
      <a:minorFont>
        <a:latin typeface="Arial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EAEAEA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36000" tIns="36000" rIns="36000" bIns="360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t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HY견고딕" panose="02030600000101010101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EAEAEA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36000" tIns="36000" rIns="36000" bIns="360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t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HY견고딕" panose="02030600000101010101" pitchFamily="18" charset="-127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100" dirty="0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>
    <a:extraClrScheme>
      <a:clrScheme name="다올의 비전 및 중장기 발전 전략 수립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0033"/>
        </a:hlink>
        <a:folHlink>
          <a:srgbClr val="336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다올의 비전 및 중장기 발전 전략 수립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66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다올의 비전 및 중장기 발전 전략 수립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다올의 비전 및 중장기 발전 전략 수립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77963</TotalTime>
  <Words>5303</Words>
  <Application>Microsoft Office PowerPoint</Application>
  <PresentationFormat>A4 용지(210x297mm)</PresentationFormat>
  <Paragraphs>602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Monotype Sorts</vt:lpstr>
      <vt:lpstr>굴림</vt:lpstr>
      <vt:lpstr>맑은 고딕</vt:lpstr>
      <vt:lpstr>함초롬바탕</vt:lpstr>
      <vt:lpstr>Arial</vt:lpstr>
      <vt:lpstr>Calibri</vt:lpstr>
      <vt:lpstr>Wingdings</vt:lpstr>
      <vt:lpstr>1_Office 테마</vt:lpstr>
      <vt:lpstr>다올의 비전 및 중장기 발전 전략 수립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남경모</cp:lastModifiedBy>
  <cp:revision>2598</cp:revision>
  <cp:lastPrinted>2026-01-29T12:59:56Z</cp:lastPrinted>
  <dcterms:created xsi:type="dcterms:W3CDTF">2024-11-06T11:29:01Z</dcterms:created>
  <dcterms:modified xsi:type="dcterms:W3CDTF">2026-03-17T23:46:56Z</dcterms:modified>
</cp:coreProperties>
</file>