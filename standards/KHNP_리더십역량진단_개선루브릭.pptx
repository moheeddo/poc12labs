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73152" cy="164592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한수원 고유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리더십 역량진단 평가 루브릭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 · 근거 기반 고도화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루브릭 + EY 컨설팅 결과 + 글로벌 연구 근거 통합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신임부장 대상 · 4대 역량 영역 · 9점 척도 유지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4 | 한수원 인재개발원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루브릭을 개선하는가?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루브릭의 한계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평가자 주관 의존도 높음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관찰 기반 정성 평가 → 평가자 간 편차 발생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행동 앵커(Anchor) 부재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'매우 우수' ~ '미흡'의 구분이 추상적 서술에 의존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원전 산업 고유 맥락 부족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안전문화·규제 준수·ALARA 원칙 등 미반영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AI 기반 객관화 연계 미흡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멀티모달 행동 데이터 활용 기반 부재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 (4가지)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BARS 도입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구체적 행동 사례로 점수 기준 명확화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원전 맥락 내재화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안전문화·규제·비상대응 상황 반영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멀티모달 지표 기반 마련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음성·시선·자세 데이터 연동 준비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피드백 환류 체계 강화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진단 → 코칭 → 재평가 사이클 설계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BARS: Behaviorally Anchored Rating Scales (행동기준 평정척도) — Smith &amp; Kendall(1963), 산업심리학 표준 평가도구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리더십 역량 영역 및 개선 포인트 요약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65960" cy="37947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96596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비전제시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방향 설정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분석 → 과제 도출 → 동기부여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1691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6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포인트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 + 원전 안전비전 연계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도전성에 '안전문화 혁신' 반영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051560"/>
            <a:ext cx="1965960" cy="37947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051560"/>
            <a:ext cx="196596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신뢰형성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19659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이해관계 조율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갈등 분석 → 대안 → 협력적 합의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3017520"/>
            <a:ext cx="1691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6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포인트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3383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부서간 안전-효율 갈등 맥락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비언어적 존중 행동 앵커 추가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1965960" cy="37947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51560"/>
            <a:ext cx="1965960" cy="54864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합리적 의사결정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6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19659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상황 판단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→ 근거 → 리스크 관리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017520"/>
            <a:ext cx="1691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6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포인트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383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원전 긴급도 프레임워크 적용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최우선 의사결정 원칙 내재화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1051560"/>
            <a:ext cx="1965960" cy="37947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12280" y="1051560"/>
            <a:ext cx="196596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구성원육성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19659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코칭·피드백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인식 → 개선 계획 → 성장 지원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49440" y="3017520"/>
            <a:ext cx="1691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6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포인트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3383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심리적 안전감 조성 역량 추가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SBI 피드백 모델 기반 앵커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SBI 모델: Situation-Behavior-Impact (상황-행동-영향) — Center for Creative Leadership, 세계적 표준 피드백 프레임워크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 ① 비전제시  —  개선 루브릭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  <a:gridCol w="18288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9점 (매우 우수)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6~8점 (보통 이상)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2~5점 (보통 미만)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1점 (미흡)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분석 역량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(PEST 기반)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PEST 4요인을 원전 사업 맥락에 정확히 적용하고, 기회/위협을 안전·규제·기술 관점에서 도출함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PEST 분석을 수행하나, 원전 산업 특수성(규제·안전) 반영이 일부 미흡함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PEST 개념을 이해하나 분석이 표면적이며, 원전 맥락과의 연결이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PEST 프레임을 이해하지 못하거나 분석 결과가 과제와 무관함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전략-과제 정합성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(Alignment)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결과에서 논리적으로 전략목표를 도출하고, 안전·생산·혁신 3축이 균형 있게 연결됨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전략목표와 과제 간 연결이 대체로 적절하나, 안전-생산 균형에 일부 편중 있음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과제를 도출했으나 분석과의 논리적 연계가 약하고, 전략 축이 누락됨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도출이 분석과 무관하거나, 전략적 방향성 자체가 불분명함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과제의 도전성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안전비전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 수준을 넘는 도전적 과제를 제시하며, 안전문화 혁신·선제적 규제 대응을 포함함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도전적 요소가 있으나 안전문화 관점의 혁신 목표가 다소 약함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업무 수준에 머물며, 도전적·안전 혁신적 요소가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보수적 접근에 머물러 조직 변화와 안전문화 발전을 기대하기 어려움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발표·동기부여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(전달력)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메시지를 구조화하여 전달하고, 구성원의 공감과 참여 의지를 이끌어냄. 시선 접촉·안정된 음성 톤 유지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전략과 실행계획을 설명하나, 구성원 공감 유발이나 비언어적 전달력이 다소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내용을 전달했으나 일방적이며, 동기부여 요소나 청중 교감이 미흡함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설명이 불명확하고, 구성원 참여를 유도하지 못함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근거: Smith &amp; Kendall(1963) BARS 방법론 | Sanchez-Cortes et al.(2012) 비언어행동 기반 리더십 식별 연구 | Naim et al.(2015) 멀티모달 발표역량 추정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 ② 신뢰형성  —  개선 루브릭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  <a:gridCol w="18288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9점 (매우 우수)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6~8점 (보통 이상)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2~5점 (보통 미만)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1점 (미흡)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갈등 상황 분석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(다중 이해관계)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 부서의 입장과 핵심 이해를 정확히 파악하고, 안전-효율 갈등의 구조적 원인까지 분석함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입장을 파악하나, 갈등의 근본 원인 분석이나 안전-효율 프레임 적용이 일부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부서 관점에 치우쳐 타 부서 입장의 객관적 분석이 미흡함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갈등 상황의 핵심을 파악하지 못하고, 분석 없이 주장에 머뭄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대안 도출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(균형적 해법)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안전·효율·비용의 3축을 모두 고려한 창의적 해법을 제시하고, 실현 가능성을 검토함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균형 있는 대안을 제시하나, 일부 축(안전 또는 비용)의 고려가 약함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대안을 제시했으나 한쪽에 치우치며, 실현 가능성 검토가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실효성 있는 대안을 제시하지 못하거나, 갈등을 해소하지 못함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적극 참여·기여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(토론 주도성)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토론에서 핵심 논점을 정리하고, 합의 도출을 주도하며, 구성원 발언을 촉진함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적극적으로 참여하나, 합의 도출 주도나 참여 촉진이 다소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소극적으로 참여하여 결론 도출에 대한 기여가 미흡함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토론에서 거의 발언하지 않고, 결론 도출에 기여하지 못함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존중·협력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(심리적 안전감)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경청·고개 끄덕임·개방적 자세로 심리적 안전감을 조성하고, 소수 의견도 존중함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의견을 대체로 존중하나, 의견 충돌 시 협력 태도가 약해지는 순간이 있음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주장에 집중하며, 타인 의견에 대한 경청이 부분적임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의견을 무시하거나, 팀 분위기를 경직시키는 행동을 보임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설득·합의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(논리적 조율)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데이터·사례 기반으로 논리적 설득을 하며, Win-Win 합의를 이끌어냄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설득력 있는 주장을 하나, 최종 합의 도출까지의 조율이 다소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주장의 논리적 근거가 약하고, 합의 과정에서 효과적으로 조율하지 못함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설득 없이 고집하거나, 합의 도출에 기여하지 못함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근거: Edmondson(1999) 심리적 안전감(Psychological Safety) 이론 | Emergent Leadership Detection Across Datasets(2019) 시선·자세 조합의 강건성 입증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 ③ 합리적 의사결정  —  개선 루브릭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  <a:gridCol w="18288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6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9점 (매우 우수)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6~8점 (보통 이상)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2~5점 (보통 미만)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1점 (미흡)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상황 분석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(긴급도-중요도)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긴급성·중요성 매트릭스를 활용해 우선순위를 설정하고, '안전 최우선' 원칙에 따라 판단함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우선순위를 설정하나, 안전 관련 사안의 긴급도 판단에 일부 모호함이 있음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 설정이 불명확하고, 안전 사안과 행정 사안의 구분이 미흡함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문제의 핵심을 파악하지 못하고, 우선순위 설정이 부적절함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논리적 근거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(데이터·규정 기반)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 규정·경험 데이터·업계 기준을 활용해 대안의 타당성을 명확히 설명함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대안의 근거를 제시하나, 규정·데이터 활용이 부분적이거나 논리 연결이 일부 약함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근거가 불명확하거나, 직관에 의존한 판단이 많음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근거를 제시하지 않고, 감각적 판단에 의존함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이해관계자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의견 수렴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의사결정 과정과 결과를 투명히 공유하고, 관련자 의견을 적극 수렴하여 균형 잡힌 결정을 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결과를 공유하나, 의견 수렴 범위가 제한적이거나 일부 이해관계자가 누락됨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의사결정을 독자적으로 진행하고, 이해관계자 의견 수렴이 형식적임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의견 수렴 없이 일방적 결정을 내리고, 과정을 공유하지 않음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 관리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(원전 안전 관점)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잠재 리스크를 사전 식별하고, 안전 관련 리스크에 대해 예방적 대응 계획을 수립함. 최악의 상황(Worst Case)까지 고려함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일부 리스크를 고려하나, 안전 관련 잠재 리스크 대비가 불충분함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 분석이 피상적이고, 상황 변화에 대한 대처 계획이 미흡함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리스크를 전혀 고려하지 않고 원래 계획을 강행함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계획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(구체성·책임 배분)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Who·When·How를 명확히 제시하고, 후속 점검 체계까지 포함한 실행 계획을 수립함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계획이 있으나, 책임 배분이나 일정이 일부 모호함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계획이 형식적이며, 실질적 실행 가능성이 낮음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계획이 부재하거나, 책임 소재가 불분명함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근거: Eisenhardt(1989) High-velocity 의사결정 연구 | NRC NUREG-1021 운전원 평가 가이드 | Kahneman(2011) 판단과 의사결정 편향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 ④ 구성원육성  —  개선 루브릭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  <a:gridCol w="18288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9점 (매우 우수)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6~8점 (보통 이상)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2~5점 (보통 미만)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1점 (미흡)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인식·설명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(데이터 기반)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구체적 데이터·사례(일시, 빈도, 영향)를 근거로 문제를 논리적으로 설명하고, 구성원도 동의할 수 있도록 전달함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문제를 설명하나, 구체적 데이터 제시가 부족하거나 논리 연결이 약함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문제를 부분적으로 인식했으나, 설명이 모호하고 근거가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정의가 불명확하며, 원인 분석 없이 단순 지적에 머뭄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계획 구체성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(역할·일정·KPI)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활동의 역할 분담·일정·성과 지표(KPI)를 명확히 설정하고, 단계별 점검 계획을 포함함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계획이 대체로 적절하나, KPI 설정이나 단계별 점검이 미흡함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계획이 모호하고, 역할 분담이 명확하지 않아 실행이 어려움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계획이 불명확하며, 개선 지속 가능성이 낮음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발전적 피드백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(SBI 모델 적용)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SBI 모델(상황-행동-영향)로 구체적 피드백을 전달하고, 성장 방향과 학습 기회를 제시함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피드백을 제공하나, 행동과 영향의 구분이 불명확하거나 추상적임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단순 지적에 그치며, 성장 방향을 제시하지 않음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피드백 없이 지시만 하거나, 부정적 언급으로 의욕을 저하시킴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심리적 안전감 조성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(허용 분위기)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편안한 분위기를 조성하고 면담 목적을 설명하며, 구성원이 솔직하게 의견을 말할 수 있도록 유도함. 개방형 질문 활용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면담 목적을 설명하나, 구성원이 다소 방어적 태도를 보임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면담 목적 설명 부족으로 구성원이 의도를 이해하지 못함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경직된 분위기로 인해 구성원이 적극적으로 대화하지 못함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공동 대안 모색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(코칭적 접근)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구성원과 함께 해결책을 논의하고, 구성원 스스로 실천 방안을 도출하도록 코칭 질문을 활용함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대안을 제시했으나, 구성원의 자발적 참여가 부족함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대안을 구체적으로 도출하지 못하고, 일방적 지시 경향이 있음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대안을 모색하지 않거나, 일방적 지시만 내림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근거: Center for Creative Leadership(CCL) SBI 피드백 모델 | Edmondson(1999) 심리적 안전감 연구 | Whitmore(2009) GROW 코칭 모델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근거  —  핵심 연구·논문 맵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51206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영역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연구·논문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한수원 루브릭에 적용한 내용 (쉽게 설명)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 앵커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(BARS)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Smith, P. &amp; Kendall, L. (1963)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"Retranslation of Expectations"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추상적 서술 대신 구체적 행동 사례로 점수를 고정(Anchoring)하는 방법론. 평가자 간 일관성(Inter-rater reliability)을 획기적으로 높임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비언어행동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리더십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Sanchez-Cortes et al. (2012)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"Nonverbal Behavior Approach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 Identify Emergent Leaders"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발화 시간·턴 수·인터럽트·시선·자세 등 비언어 행동으로 리더십 예측 가능 확인. 직위가 아닌 '영향력 행동'으로 리더 식별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심리적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Edmondson, A. (1999)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"Psychological Safety and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Learning Behavior in Work Teams"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내 심리적 안전감이 높을수록 학습 행동·문제 제기·혁신이 촉진됨. 구성원 육성의 전제 조건으로 '안전한 대화 환경' 필수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96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멀티모달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96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역량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Naim et al. (2015)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"Estimating Presentation Competence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using Multimodal Cues"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얼굴 표정(AU)·음성 운율·자세 데이터를 통합 분석하여 발표 역량을 자동 추정. AI 기반 평가 객관화의 기술적 근거 제공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86A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 데이터셋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86A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리더십 탐지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Müller et al. (2019)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"Emergent Leadership Detection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Across Datasets"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시선 접촉 + 자세 조합이 다양한 환경에서 가장 강건한 리더십 지표(정확도 0.68). 향후 AI 평가의 핵심 입력 변수로 활용 가능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위 논문들은 EY 컨설팅 자료(p.36~41) '리더십/행동 평가 기술 연구'에서 검토된 연구를 기반으로 루브릭에 반영하였음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방향  —  AI 연동 평가 고도화 로드맵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(현재)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앵커 기반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루브릭 적용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BARS 기반 루브릭 전환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원전 맥락 내재화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평가자 교육 강화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SBI 피드백 모델 도입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324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51760" cy="36576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(2027~)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구축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3317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녹화 체계 구축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음성·시선 데이터 수집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OpenSMILE/OpenFace 파일럿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데이터 구조화·축적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51760" cy="365760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(2028~)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6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보조 평가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96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운영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3317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4688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멀티모달 분석 보조 점수 산출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평가자 판단 + AI 참고 점수 병행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Retorio형 AI 코칭 시뮬레이션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 검증 및 공정성 확보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평가자를 '대체'하는 것이 아니라 '보조'하는 역할  |  최종 판단은 항상 사람(Human-in-the-Loop)  |  공정성·편향 검증 필수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53312"/>
            <a:ext cx="502920" cy="502920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기반 평가로 전환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추상적 서술 → 구체적 행동 사례(BARS)로 채점 기준 명확화, 평가자 간 일관성 확보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21992"/>
            <a:ext cx="502920" cy="502920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148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원전 산업 DNA 내재화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안전문화·규제 준수·ALARA 원칙을 4대 영역 전반에 반영, 한수원만의 고유 평가 체계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90672"/>
            <a:ext cx="502920" cy="502920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연구 근거 기반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5편의 핵심 논문과 CCL·NRC 가이드를 근거로 개선, 사장님 보고 시 학술적 신뢰성 확보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59352"/>
            <a:ext cx="502920" cy="502920"/>
          </a:xfrm>
          <a:prstGeom prst="ellipse">
            <a:avLst/>
          </a:prstGeom>
          <a:solidFill>
            <a:srgbClr val="E896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고도화 기반 마련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멀티모달 행동 데이터(음성·시선·자세) 연동 설계, 단계적으로 AI 보조 평가 체계 구축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한수원 인재개발원  ·  리더십코칭센터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한수원 리더십 역량진단 평가 루브릭 (개선안)</dc:title>
  <dc:subject>PptxGenJS Presentation</dc:subject>
  <dc:creator>한수원 인재개발원</dc:creator>
  <cp:lastModifiedBy>한수원 인재개발원</cp:lastModifiedBy>
  <cp:revision>1</cp:revision>
  <dcterms:created xsi:type="dcterms:W3CDTF">2026-04-01T07:26:01Z</dcterms:created>
  <dcterms:modified xsi:type="dcterms:W3CDTF">2026-04-01T07:26:01Z</dcterms:modified>
</cp:coreProperties>
</file>